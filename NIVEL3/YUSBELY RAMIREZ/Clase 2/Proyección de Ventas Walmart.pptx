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6a986d07-7acb-49db-877c-79440c9627c2.fntdata" /><ns0:Relationship Id="rIdFont21" Type="http://schemas.openxmlformats.org/officeDocument/2006/relationships/font" Target="fonts/ae9486ee-7220-444c-bb1d-c3edd969bb9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41477"/>
            <a:ext cx="10668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44997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41477"/>
            <a:ext cx="10668000" cy="95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86050" y="4793902"/>
            <a:ext cx="9525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67250" y="4793902"/>
            <a:ext cx="9525" cy="3429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159347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Proyección de Ventas &amp; Análisis Estacional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88977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Pronóstico trimestral para los próximos 3 meses (Nov 2012 - Ene 2013) con evaluación de escenarios macroeconómicos.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02147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WALMART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1300" y="1702147"/>
            <a:ext cx="1785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Q4 PROJECTION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17702"/>
            <a:ext cx="202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PROYECCIÓN TOTAL 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27252"/>
            <a:ext cx="2024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C220"/>
                </a:solidFill>
                <a:latin typeface="Plus Jakarta Sans"/>
              </a:rPr>
              <a:t>$701.95M 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0375" y="4717702"/>
            <a:ext cx="1702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CRECIMIENTO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0375" y="4927252"/>
            <a:ext cx="17025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+5.22%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1575" y="4717702"/>
            <a:ext cx="185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COBERURA ANALIZADA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1575" y="4927252"/>
            <a:ext cx="18573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45 Tiendas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036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0036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00362"/>
            <a:ext cx="350520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14687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14687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14687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3289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7" y="3328987"/>
            <a:ext cx="2190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350" y="3328987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RESUMEN EJECUTIVO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Perspectiva General del Trimestre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242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Ventas Esperadas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767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$701.95M USD en 13 semanas proyectadas.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242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Tendencia Orgánica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767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+$4,275 USD de incremento semanal continuo.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242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Concentración de Pico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767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$81.0M USD en la semana pre-navideña.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0287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14712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29137"/>
            <a:ext cx="5257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57200"/>
            <a:ext cx="5257800" cy="594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404937"/>
            <a:ext cx="6572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PANORAMA DE DATOS HISTÓRICOS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52587"/>
            <a:ext cx="69008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Base de Análisis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490787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COBERTURA GEOGRÁFICA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00337"/>
            <a:ext cx="6096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45 Tiendas Walmart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05212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PROMEDIO SEMANAL HISTÓRICO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814762"/>
            <a:ext cx="6096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071CE"/>
                </a:solidFill>
                <a:latin typeface="Plus Jakarta Sans"/>
              </a:rPr>
              <a:t>$1.05M USD por tienda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719637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VOLUMEN DE REGISTROS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929187"/>
            <a:ext cx="60960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6,435 Observaciones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2719387"/>
            <a:ext cx="5610225" cy="2352675"/>
          </a:xfrm>
          <a:prstGeom prst="roundRect">
            <a:avLst>
              <a:gd name="adj" fmla="val 6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257550"/>
            <a:ext cx="4981575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990975"/>
            <a:ext cx="4981575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257550"/>
            <a:ext cx="38100" cy="542925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990975"/>
            <a:ext cx="38100" cy="5429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6500" y="3652837"/>
            <a:ext cx="498157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4148137"/>
            <a:ext cx="498157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6500" y="4643437"/>
            <a:ext cx="4981575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0" y="3652837"/>
            <a:ext cx="4383732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0" y="4148137"/>
            <a:ext cx="4583013" cy="1143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0" y="4643437"/>
            <a:ext cx="4981575" cy="1143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TENDENCIA SECULAR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Crecimiento Sostenido Cadena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3033712"/>
            <a:ext cx="590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Evolución Anual Promedio (Millones USD)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257550"/>
            <a:ext cx="623827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Pendiente de Fondo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581400"/>
            <a:ext cx="5941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+$4,275 USD de incremento base cada semana.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990975"/>
            <a:ext cx="623827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Ritmo Interanual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314825"/>
            <a:ext cx="5941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+5.22% de expansión acumulada en 2012.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3424237"/>
            <a:ext cx="876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Año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9875" y="3424237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$46.8M/sem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919537"/>
            <a:ext cx="828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Año 2011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77500" y="3919537"/>
            <a:ext cx="10763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$47.1M/sem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414837"/>
            <a:ext cx="1047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Año 2012 (E)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9400" y="4414837"/>
            <a:ext cx="1114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0000"/>
                </a:solidFill>
                <a:latin typeface="Plus Jakarta Sans"/>
              </a:rPr>
              <a:t>$49.6M/sem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95637"/>
            <a:ext cx="26289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195637"/>
            <a:ext cx="26289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195637"/>
            <a:ext cx="26289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195637"/>
            <a:ext cx="26289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95637"/>
            <a:ext cx="2628900" cy="38100"/>
          </a:xfrm>
          <a:prstGeom prst="rect">
            <a:avLst/>
          </a:prstGeom>
          <a:solidFill>
            <a:srgbClr val="007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0900" y="3195637"/>
            <a:ext cx="2628900" cy="3810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3195637"/>
            <a:ext cx="26289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195637"/>
            <a:ext cx="262890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PATRONES ESTACIONALES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Ciclo Anual de Demanda 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4623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FASE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099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Inicio Noviembre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0052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Nivel estable cercano a $51M semanales.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4623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FASE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7099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Black Friday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40052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Disparo de +48% sobre promedio regular.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623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FASE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099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Pico Navideño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052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Máximo anual con +72% de incremento.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462337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FASE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709987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Resaca Enero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4005262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Ajuste a la baja de -13% estacional.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2787"/>
            <a:ext cx="35052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52787"/>
            <a:ext cx="3505200" cy="1323975"/>
          </a:xfrm>
          <a:prstGeom prst="roundRect">
            <a:avLst>
              <a:gd name="adj" fmla="val 1151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52787"/>
            <a:ext cx="3505200" cy="1323975"/>
          </a:xfrm>
          <a:prstGeom prst="roundRect">
            <a:avLst>
              <a:gd name="adj" fmla="val 11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252787"/>
            <a:ext cx="35052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252787"/>
            <a:ext cx="35052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252787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METODOLOGÍA DE MODELADO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Definición de Escenarios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5758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Pesimista (-6%)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8719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Presión por alto costo de combustible.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557587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Esperado (Base)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8719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Inercia estacional con +5.22% interanual.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57587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Optimista (+6%)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3871912"/>
            <a:ext cx="3067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Mayor tracción en canales de descuento.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443162"/>
          <a:ext cx="10972797" cy="2867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965971"/>
                <a:gridCol w="2280344"/>
                <a:gridCol w="2396132"/>
                <a:gridCol w="2330350"/>
              </a:tblGrid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MES DE PROYECCIÓN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PESIMISTA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ESPERADO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OPTIMISTA ($)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Noviembre 2012 (5 sem)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$256.71M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$273.10M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$289.49M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Diciembre 2012 (4 sem)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$236.08M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$251.15M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$266.21M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Enero 2013 (4 sem)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$167.05M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$177.71M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$188.37M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TOTAL TRIMESTRE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$659.84M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$701.96M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$744.07M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PRONÓSTICO CONSOLIDADO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Proyección Mensual a 3 Meses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2287"/>
            <a:ext cx="10972800" cy="3048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90962"/>
            <a:ext cx="10972800" cy="3048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19637"/>
            <a:ext cx="10972800" cy="3048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62287"/>
            <a:ext cx="109728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890962"/>
            <a:ext cx="10314384" cy="3048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719637"/>
            <a:ext cx="9655968" cy="3048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ANÁLISIS DE SENSIBILIDAD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Rango de Variación Q4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767012"/>
            <a:ext cx="2119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Optimista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3125" y="2767012"/>
            <a:ext cx="2274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$744.07M USD (+6%)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595687"/>
            <a:ext cx="2774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Esperado (Base)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3200" y="3595687"/>
            <a:ext cx="152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A34A"/>
                </a:solidFill>
                <a:latin typeface="Plus Jakarta Sans"/>
              </a:rPr>
              <a:t>$701.96M USD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424362"/>
            <a:ext cx="20835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Escenario Pesimista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2175" y="4424362"/>
            <a:ext cx="22502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C2626"/>
                </a:solidFill>
                <a:latin typeface="Plus Jakarta Sans"/>
              </a:rPr>
              <a:t>$659.84M USD (-6%)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790825"/>
            <a:ext cx="525780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990975"/>
            <a:ext cx="5257800" cy="97155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2790825"/>
            <a:ext cx="38100" cy="97155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3990975"/>
            <a:ext cx="38100" cy="9715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5257800" cy="594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600" y="1895475"/>
            <a:ext cx="5867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EVENTOS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143125"/>
            <a:ext cx="5867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Semanas de Alta Concentración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981325"/>
            <a:ext cx="5638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BLACK FRIDAY (23-NOV)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190875"/>
            <a:ext cx="563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$70.07M USD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181475"/>
            <a:ext cx="5638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PRE-NAVIDAD (21-DIC)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391025"/>
            <a:ext cx="563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$81.02M USD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57200"/>
            <a:ext cx="5257800" cy="5943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48000"/>
            <a:ext cx="2667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76650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053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14675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43325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71975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133600"/>
            <a:ext cx="6572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CADENA DE SUMINISTRO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381250"/>
            <a:ext cx="69008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Planificación Operativa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028950"/>
            <a:ext cx="493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Inventario Anticipado: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 Abastecimiento previo a la semana 47.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3657600"/>
            <a:ext cx="493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Refuerzo Logístico: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 Cobertura de flota para el pico navideño.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286250"/>
            <a:ext cx="4933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Ajuste de Capacidad:</a:t>
            </a:r>
            <a:r>
              <a:rPr b="1" sz="135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Plus Jakarta Sans"/>
              </a:rPr>
              <a:t> Reducción de turnos en la resaca de enero.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941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1941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9412"/>
            <a:ext cx="35052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3373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33737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337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338512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338512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338512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71CE"/>
                </a:solidFill>
                <a:latin typeface="Plus Jakarta Sans"/>
              </a:rPr>
              <a:t>RECOMENDACIONES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Acciones Estratégicas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805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Gestión de Inventario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15766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Priorizar categorías de mayor margen en diciembre.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805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Estrategia Promocional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5766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Capturar demanda temprana antes de Black Friday.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8052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Control Operativo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5766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Optimizar costos variables durante enero.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00600" y="4310062"/>
            <a:ext cx="2590800" cy="390525"/>
          </a:xfrm>
          <a:prstGeom prst="roundRect">
            <a:avLst>
              <a:gd name="adj" fmla="val 4878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1574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328862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26753" y="3033712"/>
            <a:ext cx="793849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Preparados para el Pico 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34953" y="3767137"/>
            <a:ext cx="53220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CBD5E1"/>
                </a:solidFill>
                <a:latin typeface="Plus Jakarta Sans"/>
              </a:rPr>
              <a:t>Preguntas y Discusión con la Dirección Ejecutiva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5350" y="4405312"/>
            <a:ext cx="2781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C220"/>
                </a:solidFill>
                <a:latin typeface="Plus Jakarta Sans"/>
              </a:rPr>
              <a:t>WALMART SALES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82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574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https://imgproxy.divecdn.com/HAho3vLIC1-4WRXRLmgoeg56cBJdchyY_eUoTmwB74Q/g:ce/rs:fill:1200:675:1/Z3M6Ly9kaXZlc2l0ZS1zdG9yYWdlL2RpdmVpbWFnZS9XYWxtYXJ0X0dlcm1hbnRvd25fTWFyeWxhbmRfMDYwOTI1LTEuSlBH.webp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352550"/>
            <a:ext cx="257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www.retaildive.com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85950"/>
            <a:ext cx="541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https://theglobepost.com/wp-content/uploads/2017/11/stampede.jpg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85975"/>
            <a:ext cx="247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theglobepost.com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1937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https://corporate.walmart.com/content/dam/corporate/images/newsroom/2026/05/26/walmart-prepaid-consolidation-supply-chain-program/Supply-Chain-Prepaid_Consolidation-Bento.webp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971800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corporate.walmart.com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