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914400"/>
            <a:ext cx="1051560" cy="1051560"/>
          </a:xfrm>
          <a:prstGeom prst="ellipse">
            <a:avLst/>
          </a:prstGeom>
          <a:solidFill>
            <a:srgbClr val="DCEFEB"/>
          </a:solidFill>
          <a:ln>
            <a:solidFill>
              <a:srgbClr val="DC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2011680"/>
            <a:ext cx="658368" cy="658368"/>
          </a:xfrm>
          <a:prstGeom prst="ellipse">
            <a:avLst/>
          </a:prstGeom>
          <a:solidFill>
            <a:srgbClr val="F9EFE2"/>
          </a:solidFill>
          <a:ln>
            <a:solidFill>
              <a:srgbClr val="F9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0" y="2743200"/>
            <a:ext cx="1508760" cy="1508760"/>
          </a:xfrm>
          <a:prstGeom prst="ellipse">
            <a:avLst/>
          </a:prstGeom>
          <a:solidFill>
            <a:srgbClr val="EAF1F5"/>
          </a:solidFill>
          <a:ln>
            <a:solidFill>
              <a:srgbClr val="EA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0" y="4114800"/>
            <a:ext cx="914400" cy="914400"/>
          </a:xfrm>
          <a:prstGeom prst="ellipse">
            <a:avLst/>
          </a:prstGeom>
          <a:solidFill>
            <a:srgbClr val="B96B2C"/>
          </a:solidFill>
          <a:ln>
            <a:solidFill>
              <a:srgbClr val="B9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0" y="5120640"/>
            <a:ext cx="457200" cy="4572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822960"/>
            <a:ext cx="7132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DCEFEB"/>
                </a:solidFill>
                <a:latin typeface="Aptos"/>
              </a:defRPr>
            </a:pPr>
            <a:r>
              <a:t>PRESENTACIÓN EJECUTIVA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7223760" cy="1417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Segmentación de</a:t>
            </a:r>
          </a:p>
          <a:p>
            <a:pPr algn="l">
              <a:spcAft>
                <a:spcPts val="6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clientes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154680"/>
            <a:ext cx="676656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Aprendizaje no supervisado · RFM + K-Means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4297680"/>
            <a:ext cx="1005840" cy="54864"/>
          </a:xfrm>
          <a:prstGeom prst="rect">
            <a:avLst/>
          </a:prstGeom>
          <a:solidFill>
            <a:srgbClr val="B96B2C"/>
          </a:solidFill>
          <a:ln>
            <a:solidFill>
              <a:srgbClr val="B9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572000"/>
            <a:ext cx="67665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600" b="0">
                <a:solidFill>
                  <a:srgbClr val="EAF1F5"/>
                </a:solidFill>
                <a:latin typeface="Aptos"/>
              </a:defRPr>
            </a:pPr>
            <a:r>
              <a:t>Convertir patrones de compra en acciones comerciales diferenciadas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6144768"/>
            <a:ext cx="65836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DCEFEB"/>
                </a:solidFill>
                <a:latin typeface="Aptos"/>
              </a:defRPr>
            </a:pPr>
            <a:r>
              <a:t>Online Retail  |  24 de octubre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77E89"/>
                </a:solidFill>
                <a:latin typeface="Aptos"/>
              </a:defRPr>
            </a:pPr>
            <a:r>
              <a:t>01 · MENSAJE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La oportunidad: dejar de tratar a todos los clientes igual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658368" cy="50292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484632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500" b="1">
                <a:solidFill>
                  <a:srgbClr val="17324D"/>
                </a:solidFill>
                <a:latin typeface="Aptos"/>
              </a:defRPr>
            </a:pPr>
            <a:r>
              <a:t>Una misma campaña no responde a necesidades distintas.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4572000" cy="10972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232F38"/>
                </a:solidFill>
                <a:latin typeface="Aptos"/>
              </a:defRPr>
            </a:pPr>
            <a:r>
              <a:t>La segmentación agrupa clientes por comportamiento de compra para priorizar inversión, personalizar mensajes y medir resultados.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600200"/>
            <a:ext cx="5349240" cy="1051560"/>
          </a:xfrm>
          <a:prstGeom prst="roundRect">
            <a:avLst/>
          </a:prstGeom>
          <a:solidFill>
            <a:srgbClr val="DCEFEB"/>
          </a:solidFill>
          <a:ln>
            <a:solidFill>
              <a:srgbClr val="DC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89320" y="1600200"/>
            <a:ext cx="109728" cy="1051560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46504"/>
            <a:ext cx="1691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77E89"/>
                </a:solidFill>
                <a:latin typeface="Aptos"/>
              </a:defRPr>
            </a:pPr>
            <a:r>
              <a:t>RETENER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9560" y="1737360"/>
            <a:ext cx="30632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7324D"/>
                </a:solidFill>
                <a:latin typeface="Aptos"/>
              </a:defRPr>
            </a:pPr>
            <a:r>
              <a:t>Proteger clientes de alto valor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2953512"/>
            <a:ext cx="5349240" cy="1051560"/>
          </a:xfrm>
          <a:prstGeom prst="roundRect">
            <a:avLst/>
          </a:prstGeom>
          <a:solidFill>
            <a:srgbClr val="F9EFE2"/>
          </a:solidFill>
          <a:ln>
            <a:solidFill>
              <a:srgbClr val="F9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89320" y="2953512"/>
            <a:ext cx="109728" cy="1051560"/>
          </a:xfrm>
          <a:prstGeom prst="rect">
            <a:avLst/>
          </a:prstGeom>
          <a:solidFill>
            <a:srgbClr val="B96B2C"/>
          </a:solidFill>
          <a:ln>
            <a:solidFill>
              <a:srgbClr val="B9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099816"/>
            <a:ext cx="1691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B96B2C"/>
                </a:solidFill>
                <a:latin typeface="Aptos"/>
              </a:defRPr>
            </a:pPr>
            <a:r>
              <a:t>DESARROLLAR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9560" y="3090672"/>
            <a:ext cx="30632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7324D"/>
                </a:solidFill>
                <a:latin typeface="Aptos"/>
              </a:defRPr>
            </a:pPr>
            <a:r>
              <a:t>Aumentar frecuencia o ticket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306824"/>
            <a:ext cx="5349240" cy="1051560"/>
          </a:xfrm>
          <a:prstGeom prst="roundRect">
            <a:avLst/>
          </a:prstGeom>
          <a:solidFill>
            <a:srgbClr val="EAF1F5"/>
          </a:solidFill>
          <a:ln>
            <a:solidFill>
              <a:srgbClr val="EA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89320" y="4306824"/>
            <a:ext cx="109728" cy="105156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453128"/>
            <a:ext cx="16916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7324D"/>
                </a:solidFill>
                <a:latin typeface="Aptos"/>
              </a:defRPr>
            </a:pPr>
            <a:r>
              <a:t>RECUPERAR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4443984"/>
            <a:ext cx="306324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7324D"/>
                </a:solidFill>
                <a:latin typeface="Aptos"/>
              </a:defRPr>
            </a:pPr>
            <a:r>
              <a:t>Reactivar clientes inactivos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5074920"/>
            <a:ext cx="105156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77E89"/>
                </a:solidFill>
                <a:latin typeface="Aptos"/>
              </a:defRPr>
            </a:pPr>
            <a:r>
              <a:t>Resultado esperado: una cartera priorizada y un plan de acción específico para cada perfil.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26777"/>
                </a:solidFill>
                <a:latin typeface="Aptos"/>
              </a:defRPr>
            </a:pPr>
            <a:r>
              <a:t>SEGMENTACIÓN DE CLIENTES  |  ONLINE RETAIL  |  PROPUESTA METODOLÓGICA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26777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77E89"/>
                </a:solidFill>
                <a:latin typeface="Aptos"/>
              </a:defRPr>
            </a:pPr>
            <a:r>
              <a:t>02 ·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Base analítica: de transacciones a clientes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658368" cy="50292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3108960" cy="1508760"/>
          </a:xfrm>
          <a:prstGeom prst="roundRect">
            <a:avLst/>
          </a:prstGeom>
          <a:solidFill>
            <a:srgbClr val="EAF1F5"/>
          </a:solidFill>
          <a:ln>
            <a:solidFill>
              <a:srgbClr val="EA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92024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TRANSACCIONES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26517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232F38"/>
                </a:solidFill>
                <a:latin typeface="Aptos"/>
              </a:defRPr>
            </a:pPr>
            <a:r>
              <a:t>Líneas de factura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232F38"/>
                </a:solidFill>
                <a:latin typeface="Aptos"/>
              </a:defRPr>
            </a:pPr>
            <a:r>
              <a:t>Producto · cantidad · fecha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13632" y="2212848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77E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691640"/>
            <a:ext cx="3108960" cy="1508760"/>
          </a:xfrm>
          <a:prstGeom prst="roundRect">
            <a:avLst/>
          </a:prstGeom>
          <a:solidFill>
            <a:srgbClr val="DCEFEB"/>
          </a:solidFill>
          <a:ln>
            <a:solidFill>
              <a:srgbClr val="DC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192024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177E89"/>
                </a:solidFill>
                <a:latin typeface="Aptos"/>
              </a:defRPr>
            </a:pPr>
            <a:r>
              <a:t>LIMPIEZA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331720"/>
            <a:ext cx="26517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232F38"/>
                </a:solidFill>
                <a:latin typeface="Aptos"/>
              </a:defRPr>
            </a:pPr>
            <a:r>
              <a:t>Excluir devoluciones,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232F38"/>
                </a:solidFill>
                <a:latin typeface="Aptos"/>
              </a:defRPr>
            </a:pPr>
            <a:r>
              <a:t>cancelaciones y registros inválidos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212848"/>
            <a:ext cx="502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2400" b="1">
                <a:solidFill>
                  <a:srgbClr val="177E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1691640"/>
            <a:ext cx="3108960" cy="1508760"/>
          </a:xfrm>
          <a:prstGeom prst="roundRect">
            <a:avLst/>
          </a:prstGeom>
          <a:solidFill>
            <a:srgbClr val="F9EFE2"/>
          </a:solidFill>
          <a:ln>
            <a:solidFill>
              <a:srgbClr val="F9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85632" y="192024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B96B2C"/>
                </a:solidFill>
                <a:latin typeface="Aptos"/>
              </a:defRPr>
            </a:pPr>
            <a:r>
              <a:t>AGREGACIÓN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2331720"/>
            <a:ext cx="265176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500" b="0">
                <a:solidFill>
                  <a:srgbClr val="232F38"/>
                </a:solidFill>
                <a:latin typeface="Aptos"/>
              </a:defRPr>
            </a:pPr>
            <a:r>
              <a:t>Una fila por cliente</a:t>
            </a:r>
          </a:p>
          <a:p>
            <a:pPr algn="ctr">
              <a:spcAft>
                <a:spcPts val="600"/>
              </a:spcAft>
              <a:defRPr sz="1500" b="0">
                <a:solidFill>
                  <a:srgbClr val="232F38"/>
                </a:solidFill>
                <a:latin typeface="Aptos"/>
              </a:defRPr>
            </a:pPr>
            <a:r>
              <a:t>con métricas RFM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886200"/>
            <a:ext cx="10607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77E89"/>
                </a:solidFill>
                <a:latin typeface="Aptos"/>
              </a:defRPr>
            </a:pPr>
            <a:r>
              <a:t>Unidad correcta de análisis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97680"/>
            <a:ext cx="1060704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100" b="1">
                <a:solidFill>
                  <a:srgbClr val="17324D"/>
                </a:solidFill>
                <a:latin typeface="Aptos"/>
              </a:defRPr>
            </a:pPr>
            <a:r>
              <a:t>Cliente identificado por CustomerID — no cada línea de factura.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66360"/>
            <a:ext cx="1042416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526777"/>
                </a:solidFill>
                <a:latin typeface="Aptos"/>
              </a:defRPr>
            </a:pPr>
            <a:r>
              <a:t>Control de calidad importante: CustomerID puede faltar; revisar facturas canceladas, cantidades negativas, precios no positivos y duplicados antes del modelado.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26777"/>
                </a:solidFill>
                <a:latin typeface="Aptos"/>
              </a:defRPr>
            </a:pPr>
            <a:r>
              <a:t>SEGMENTACIÓN DE CLIENTES  |  ONLINE RETAIL  |  PROPUESTA METODOLÓGICA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26777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77E89"/>
                </a:solidFill>
                <a:latin typeface="Aptos"/>
              </a:defRPr>
            </a:pPr>
            <a:r>
              <a:t>03 · VARIABLES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RFM traduce el historial en señales comerciales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658368" cy="50292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337560" cy="2331720"/>
          </a:xfrm>
          <a:prstGeom prst="roundRect">
            <a:avLst/>
          </a:prstGeom>
          <a:solidFill>
            <a:srgbClr val="DCEFEB"/>
          </a:solidFill>
          <a:ln>
            <a:solidFill>
              <a:srgbClr val="DC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938528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177E89"/>
                </a:solidFill>
                <a:latin typeface="Aptos"/>
              </a:defRPr>
            </a:pPr>
            <a:r>
              <a:t>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029968"/>
            <a:ext cx="21488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77E89"/>
                </a:solidFill>
                <a:latin typeface="Aptos"/>
              </a:defRPr>
            </a:pPr>
            <a:r>
              <a:t>RECENCY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43200"/>
            <a:ext cx="28803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7324D"/>
                </a:solidFill>
                <a:latin typeface="Aptos"/>
              </a:defRPr>
            </a:pPr>
            <a:r>
              <a:t>¿Hace cuánto compró?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310128"/>
            <a:ext cx="2834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32F38"/>
                </a:solidFill>
                <a:latin typeface="Aptos"/>
              </a:defRPr>
            </a:pPr>
            <a:r>
              <a:t>Menos días = cliente más reciente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737360"/>
            <a:ext cx="3337560" cy="2331720"/>
          </a:xfrm>
          <a:prstGeom prst="roundRect">
            <a:avLst/>
          </a:prstGeom>
          <a:solidFill>
            <a:srgbClr val="F9EFE2"/>
          </a:solidFill>
          <a:ln>
            <a:solidFill>
              <a:srgbClr val="F9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1938528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B96B2C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029968"/>
            <a:ext cx="21488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B96B2C"/>
                </a:solidFill>
                <a:latin typeface="Aptos"/>
              </a:defRPr>
            </a:pPr>
            <a:r>
              <a:t>FREQUENCY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743200"/>
            <a:ext cx="28803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7324D"/>
                </a:solidFill>
                <a:latin typeface="Aptos"/>
              </a:defRPr>
            </a:pPr>
            <a:r>
              <a:t>¿Con qué frecuencia compra?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3310128"/>
            <a:ext cx="2834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32F38"/>
                </a:solidFill>
                <a:latin typeface="Aptos"/>
              </a:defRPr>
            </a:pPr>
            <a:r>
              <a:t>Más facturas distintas = mayor recurrencia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66760" y="1737360"/>
            <a:ext cx="3337560" cy="2331720"/>
          </a:xfrm>
          <a:prstGeom prst="roundRect">
            <a:avLst/>
          </a:prstGeom>
          <a:solidFill>
            <a:srgbClr val="EAF1F5"/>
          </a:solidFill>
          <a:ln>
            <a:solidFill>
              <a:srgbClr val="EA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938528"/>
            <a:ext cx="658368" cy="6583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3400" b="1">
                <a:solidFill>
                  <a:srgbClr val="17324D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029968"/>
            <a:ext cx="21488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MONETARY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743200"/>
            <a:ext cx="288036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7324D"/>
                </a:solidFill>
                <a:latin typeface="Aptos"/>
              </a:defRPr>
            </a:pPr>
            <a:r>
              <a:t>¿Cuánto ha gastado?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3310128"/>
            <a:ext cx="283464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232F38"/>
                </a:solidFill>
                <a:latin typeface="Aptos"/>
              </a:defRPr>
            </a:pPr>
            <a:r>
              <a:t>Mayor gasto acumulado = mayor valor histórico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77E89"/>
                </a:solidFill>
                <a:latin typeface="Aptos"/>
              </a:defRPr>
            </a:pPr>
            <a:r>
              <a:t>Antes de K-Means: transformar variables sesgadas (por ejemplo, log1p) y estandarizar escalas.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394960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26777"/>
                </a:solidFill>
                <a:latin typeface="Aptos"/>
              </a:defRPr>
            </a:pPr>
            <a:r>
              <a:t>RFM resume valor y actividad, pero no incorpora por sí solo margen, satisfacción ni potencial futuro.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26777"/>
                </a:solidFill>
                <a:latin typeface="Aptos"/>
              </a:defRPr>
            </a:pPr>
            <a:r>
              <a:t>SEGMENTACIÓN DE CLIENTES  |  ONLINE RETAIL  |  PROPUESTA METODOLÓGICA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26777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77E89"/>
                </a:solidFill>
                <a:latin typeface="Aptos"/>
              </a:defRPr>
            </a:pPr>
            <a:r>
              <a:t>04 ·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Cómo se propone construir los segmentos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658368" cy="50292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554480"/>
            <a:ext cx="512064" cy="512064"/>
          </a:xfrm>
          <a:prstGeom prst="ellipse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1545336"/>
            <a:ext cx="1920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7324D"/>
                </a:solidFill>
                <a:latin typeface="Aptos"/>
              </a:defRPr>
            </a:pPr>
            <a:r>
              <a:t>Preparar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545336"/>
            <a:ext cx="71323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F38"/>
                </a:solidFill>
                <a:latin typeface="Aptos"/>
              </a:defRPr>
            </a:pPr>
            <a:r>
              <a:t>Limpiar transacciones y agregar métricas RFM por cliente.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78608"/>
            <a:ext cx="512064" cy="512064"/>
          </a:xfrm>
          <a:prstGeom prst="ellipse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569464"/>
            <a:ext cx="1920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7324D"/>
                </a:solidFill>
                <a:latin typeface="Aptos"/>
              </a:defRPr>
            </a:pPr>
            <a:r>
              <a:t>Transformar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569464"/>
            <a:ext cx="71323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F38"/>
                </a:solidFill>
                <a:latin typeface="Aptos"/>
              </a:defRPr>
            </a:pPr>
            <a:r>
              <a:t>Aplicar log1p y StandardScaler para reducir asimetrías y diferencias de escala.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602736"/>
            <a:ext cx="512064" cy="512064"/>
          </a:xfrm>
          <a:prstGeom prst="ellipse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593592"/>
            <a:ext cx="1920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7324D"/>
                </a:solidFill>
                <a:latin typeface="Aptos"/>
              </a:defRPr>
            </a:pPr>
            <a:r>
              <a:t>Comparar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593592"/>
            <a:ext cx="71323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F38"/>
                </a:solidFill>
                <a:latin typeface="Aptos"/>
              </a:defRPr>
            </a:pPr>
            <a:r>
              <a:t>Evaluar varios valores de K con silhouette e inercia.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626864"/>
            <a:ext cx="512064" cy="512064"/>
          </a:xfrm>
          <a:prstGeom prst="ellipse">
            <a:avLst/>
          </a:prstGeom>
          <a:solidFill>
            <a:srgbClr val="B96B2C"/>
          </a:solidFill>
          <a:ln>
            <a:solidFill>
              <a:srgbClr val="B9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617720"/>
            <a:ext cx="192024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700" b="1">
                <a:solidFill>
                  <a:srgbClr val="17324D"/>
                </a:solidFill>
                <a:latin typeface="Aptos"/>
              </a:defRPr>
            </a:pPr>
            <a:r>
              <a:t>Entrenar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617720"/>
            <a:ext cx="71323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232F38"/>
                </a:solidFill>
                <a:latin typeface="Aptos"/>
              </a:defRPr>
            </a:pPr>
            <a:r>
              <a:t>Ajustar K-Means y revisar perfiles, tamaños y coherencia comercial.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5715000"/>
            <a:ext cx="10241280" cy="438912"/>
          </a:xfrm>
          <a:prstGeom prst="roundRect">
            <a:avLst/>
          </a:prstGeom>
          <a:solidFill>
            <a:srgbClr val="EAF1F5"/>
          </a:solidFill>
          <a:ln>
            <a:solidFill>
              <a:srgbClr val="EA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5788152"/>
            <a:ext cx="9875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17324D"/>
                </a:solidFill>
                <a:latin typeface="Aptos"/>
              </a:defRPr>
            </a:pPr>
            <a:r>
              <a:t>El mejor resultado técnico no basta: cada grupo debe ser estable, entendible y accionable.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26777"/>
                </a:solidFill>
                <a:latin typeface="Aptos"/>
              </a:defRPr>
            </a:pPr>
            <a:r>
              <a:t>SEGMENTACIÓN DE CLIENTES  |  ONLINE RETAIL  |  PROPUESTA METODOLÓGICA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26777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77E89"/>
                </a:solidFill>
                <a:latin typeface="Aptos"/>
              </a:defRPr>
            </a:pPr>
            <a:r>
              <a:t>05 · INTERPRETACIÓN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Perfiles comerciales que se buscarán en los clústeres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658368" cy="50292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53312"/>
            <a:ext cx="10789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B96B2C"/>
                </a:solidFill>
                <a:latin typeface="Aptos"/>
              </a:defRPr>
            </a:pPr>
            <a:r>
              <a:t>Arquetipos hipotéticos para orientar la lectura; no son grupos medidos del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66360" cy="987552"/>
          </a:xfrm>
          <a:prstGeom prst="roundRect">
            <a:avLst/>
          </a:prstGeom>
          <a:solidFill>
            <a:srgbClr val="DCEFEB"/>
          </a:solidFill>
          <a:ln>
            <a:solidFill>
              <a:srgbClr val="DC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929384"/>
            <a:ext cx="483717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77E89"/>
                </a:solidFill>
                <a:latin typeface="Aptos"/>
              </a:defRPr>
            </a:pPr>
            <a:r>
              <a:t>ALTO VALOR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185416"/>
            <a:ext cx="483717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7324D"/>
                </a:solidFill>
                <a:latin typeface="Aptos"/>
              </a:defRPr>
            </a:pPr>
            <a:r>
              <a:t>Recencia baja · frecuencia y gasto altos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50592"/>
            <a:ext cx="4837176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32F38"/>
                </a:solidFill>
                <a:latin typeface="Aptos"/>
              </a:defRPr>
            </a:pPr>
            <a:r>
              <a:t>Fidelización, beneficios VIP y atención prioritaria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828800"/>
            <a:ext cx="5166360" cy="987552"/>
          </a:xfrm>
          <a:prstGeom prst="roundRect">
            <a:avLst/>
          </a:prstGeom>
          <a:solidFill>
            <a:srgbClr val="EAF1F5"/>
          </a:solidFill>
          <a:ln>
            <a:solidFill>
              <a:srgbClr val="EA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1" y="1929384"/>
            <a:ext cx="483717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7324D"/>
                </a:solidFill>
                <a:latin typeface="Aptos"/>
              </a:defRPr>
            </a:pPr>
            <a:r>
              <a:t>FRECUENTES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1" y="2185416"/>
            <a:ext cx="483717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7324D"/>
                </a:solidFill>
                <a:latin typeface="Aptos"/>
              </a:defRPr>
            </a:pPr>
            <a:r>
              <a:t>Frecuencia alta · gasto medio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1" y="2450592"/>
            <a:ext cx="4837176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32F38"/>
                </a:solidFill>
                <a:latin typeface="Aptos"/>
              </a:defRPr>
            </a:pPr>
            <a:r>
              <a:t>Bundles, venta cruzada y aumento de ticket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54096"/>
            <a:ext cx="5166360" cy="987552"/>
          </a:xfrm>
          <a:prstGeom prst="roundRect">
            <a:avLst/>
          </a:prstGeom>
          <a:solidFill>
            <a:srgbClr val="F9EFE2"/>
          </a:solidFill>
          <a:ln>
            <a:solidFill>
              <a:srgbClr val="F9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154679"/>
            <a:ext cx="483717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B96B2C"/>
                </a:solidFill>
                <a:latin typeface="Aptos"/>
              </a:defRPr>
            </a:pPr>
            <a:r>
              <a:t>ALTO GASTO OCASIONAL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410712"/>
            <a:ext cx="483717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7324D"/>
                </a:solidFill>
                <a:latin typeface="Aptos"/>
              </a:defRPr>
            </a:pPr>
            <a:r>
              <a:t>Gasto alto · compras poco frecuentes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675887"/>
            <a:ext cx="4837176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32F38"/>
                </a:solidFill>
                <a:latin typeface="Aptos"/>
              </a:defRPr>
            </a:pPr>
            <a:r>
              <a:t>Recordatorios, novedades y ofertas personalizadas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3054096"/>
            <a:ext cx="5166360" cy="987552"/>
          </a:xfrm>
          <a:prstGeom prst="roundRect">
            <a:avLst/>
          </a:prstGeom>
          <a:solidFill>
            <a:srgbClr val="F8E8E4"/>
          </a:solidFill>
          <a:ln>
            <a:solidFill>
              <a:srgbClr val="F8E8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1" y="3154679"/>
            <a:ext cx="483717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964C3D"/>
                </a:solidFill>
                <a:latin typeface="Aptos"/>
              </a:defRPr>
            </a:pPr>
            <a:r>
              <a:t>EN RIESGO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1" y="3410712"/>
            <a:ext cx="483717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7324D"/>
                </a:solidFill>
                <a:latin typeface="Aptos"/>
              </a:defRPr>
            </a:pPr>
            <a:r>
              <a:t>Recencia alta frente a otros grupos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3675887"/>
            <a:ext cx="4837176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32F38"/>
                </a:solidFill>
                <a:latin typeface="Aptos"/>
              </a:defRPr>
            </a:pPr>
            <a:r>
              <a:t>Campaña de recuperación con incentivo controlado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279392"/>
            <a:ext cx="5166360" cy="987552"/>
          </a:xfrm>
          <a:prstGeom prst="roundRect">
            <a:avLst/>
          </a:prstGeom>
          <a:solidFill>
            <a:srgbClr val="F2F5F7"/>
          </a:solidFill>
          <a:ln>
            <a:solidFill>
              <a:srgbClr val="F2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379976"/>
            <a:ext cx="483717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526777"/>
                </a:solidFill>
                <a:latin typeface="Aptos"/>
              </a:defRPr>
            </a:pPr>
            <a:r>
              <a:t>OCASIONALES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36007"/>
            <a:ext cx="4837176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7324D"/>
                </a:solidFill>
                <a:latin typeface="Aptos"/>
              </a:defRPr>
            </a:pPr>
            <a:r>
              <a:t>Frecuencia y gasto bajos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901183"/>
            <a:ext cx="4837176" cy="24688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232F38"/>
                </a:solidFill>
                <a:latin typeface="Aptos"/>
              </a:defRPr>
            </a:pPr>
            <a:r>
              <a:t>Bienvenida, recomendaciones y estímulo a segunda compra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26777"/>
                </a:solidFill>
                <a:latin typeface="Aptos"/>
              </a:defRPr>
            </a:pPr>
            <a:r>
              <a:t>SEGMENTACIÓN DE CLIENTES  |  ONLINE RETAIL  |  PROPUESTA METODOLÓGICA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26777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77E89"/>
                </a:solidFill>
                <a:latin typeface="Aptos"/>
              </a:defRPr>
            </a:pPr>
            <a:r>
              <a:t>06 · ACTIVACIÓN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Del clúster a una decisión de negocio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658368" cy="50292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011680" cy="50292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18288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OBJETIVO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645920"/>
            <a:ext cx="4754880" cy="50292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1755648"/>
            <a:ext cx="457200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ACCIONES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1645920"/>
            <a:ext cx="3794760" cy="502920"/>
          </a:xfrm>
          <a:prstGeom prst="rect">
            <a:avLst/>
          </a:prstGeom>
          <a:solidFill>
            <a:srgbClr val="17324D"/>
          </a:solidFill>
          <a:ln>
            <a:solidFill>
              <a:srgbClr val="173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19" y="1755648"/>
            <a:ext cx="361188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FFFFFF"/>
                </a:solidFill>
                <a:latin typeface="Aptos"/>
              </a:defRPr>
            </a:pPr>
            <a:r>
              <a:t>INDICADORES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148840"/>
            <a:ext cx="2011680" cy="786384"/>
          </a:xfrm>
          <a:prstGeom prst="rect">
            <a:avLst/>
          </a:prstGeom>
          <a:solidFill>
            <a:srgbClr val="EAF1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267712"/>
            <a:ext cx="1792224" cy="6492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7324D"/>
                </a:solidFill>
                <a:latin typeface="Aptos"/>
              </a:defRPr>
            </a:pPr>
            <a:r>
              <a:t>Retener valor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148840"/>
            <a:ext cx="4754880" cy="786384"/>
          </a:xfrm>
          <a:prstGeom prst="rect">
            <a:avLst/>
          </a:prstGeom>
          <a:solidFill>
            <a:srgbClr val="EAF1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2928" y="2267712"/>
            <a:ext cx="4535424" cy="6492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Beneficios por niveles; servicio prioritario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2148840"/>
            <a:ext cx="3794760" cy="786384"/>
          </a:xfrm>
          <a:prstGeom prst="rect">
            <a:avLst/>
          </a:prstGeom>
          <a:solidFill>
            <a:srgbClr val="EAF1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7" y="2267712"/>
            <a:ext cx="3575304" cy="6492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Retención · recompra · margen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935224"/>
            <a:ext cx="2011680" cy="786384"/>
          </a:xfrm>
          <a:prstGeom prst="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054096"/>
            <a:ext cx="1792224" cy="6492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7324D"/>
                </a:solidFill>
                <a:latin typeface="Aptos"/>
              </a:defRPr>
            </a:pPr>
            <a:r>
              <a:t>Desarrollar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2935224"/>
            <a:ext cx="4754880" cy="786384"/>
          </a:xfrm>
          <a:prstGeom prst="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52928" y="3054096"/>
            <a:ext cx="4535424" cy="6492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Bundles y recomendaciones complementarias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8079" y="2935224"/>
            <a:ext cx="3794760" cy="786384"/>
          </a:xfrm>
          <a:prstGeom prst="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7" y="3054096"/>
            <a:ext cx="3575304" cy="6492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Ticket medio · frecuencia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721608"/>
            <a:ext cx="2011680" cy="786384"/>
          </a:xfrm>
          <a:prstGeom prst="rect">
            <a:avLst/>
          </a:prstGeom>
          <a:solidFill>
            <a:srgbClr val="EAF1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" y="3840480"/>
            <a:ext cx="1792224" cy="6492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7324D"/>
                </a:solidFill>
                <a:latin typeface="Aptos"/>
              </a:defRPr>
            </a:pPr>
            <a:r>
              <a:t>Reactivar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0" y="3721608"/>
            <a:ext cx="4754880" cy="786384"/>
          </a:xfrm>
          <a:prstGeom prst="rect">
            <a:avLst/>
          </a:prstGeom>
          <a:solidFill>
            <a:srgbClr val="EAF1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2928" y="3840480"/>
            <a:ext cx="4535424" cy="6492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Mensajes según última compra; prueba A/B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9" y="3721608"/>
            <a:ext cx="3794760" cy="786384"/>
          </a:xfrm>
          <a:prstGeom prst="rect">
            <a:avLst/>
          </a:prstGeom>
          <a:solidFill>
            <a:srgbClr val="EAF1F5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07807" y="3840480"/>
            <a:ext cx="3575304" cy="6492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Tasa de reactivación · coste por retorno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507992"/>
            <a:ext cx="2011680" cy="786384"/>
          </a:xfrm>
          <a:prstGeom prst="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4626864"/>
            <a:ext cx="1792224" cy="6492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17324D"/>
                </a:solidFill>
                <a:latin typeface="Aptos"/>
              </a:defRPr>
            </a:pPr>
            <a:r>
              <a:t>Optimizar inversión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0" y="4507992"/>
            <a:ext cx="4754880" cy="786384"/>
          </a:xfrm>
          <a:prstGeom prst="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52928" y="4626864"/>
            <a:ext cx="4535424" cy="6492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Limitar descuentos generales; probar grupos control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98079" y="4507992"/>
            <a:ext cx="3794760" cy="786384"/>
          </a:xfrm>
          <a:prstGeom prst="rect">
            <a:avLst/>
          </a:prstGeom>
          <a:solidFill>
            <a:srgbClr val="F2F5F7"/>
          </a:solidFill>
          <a:ln>
            <a:solidFill>
              <a:srgbClr val="DC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07807" y="4626864"/>
            <a:ext cx="3575304" cy="64922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Margen incremental · ROI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71500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177E89"/>
                </a:solidFill>
                <a:latin typeface="Aptos"/>
              </a:defRPr>
            </a:pPr>
            <a:r>
              <a:t>Principio de control: evaluar resultados incrementales frente a un grupo de comparación; no solo aperturas o clics.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26777"/>
                </a:solidFill>
                <a:latin typeface="Aptos"/>
              </a:defRPr>
            </a:pPr>
            <a:r>
              <a:t>SEGMENTACIÓN DE CLIENTES  |  ONLINE RETAIL  |  PROPUESTA METODOLÓGICA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26777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77E89"/>
                </a:solidFill>
                <a:latin typeface="Aptos"/>
              </a:defRPr>
            </a:pPr>
            <a:r>
              <a:t>07 · RIESGOS Y CALIDAD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Qué validar antes de tomar decisiones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658368" cy="50292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212080" cy="4069080"/>
          </a:xfrm>
          <a:prstGeom prst="roundRect">
            <a:avLst/>
          </a:prstGeom>
          <a:solidFill>
            <a:srgbClr val="EAF1F5"/>
          </a:solidFill>
          <a:ln>
            <a:solidFill>
              <a:srgbClr val="EA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72200" y="1600200"/>
            <a:ext cx="5212080" cy="4069080"/>
          </a:xfrm>
          <a:prstGeom prst="roundRect">
            <a:avLst/>
          </a:prstGeom>
          <a:solidFill>
            <a:srgbClr val="F9EFE2"/>
          </a:solidFill>
          <a:ln>
            <a:solidFill>
              <a:srgbClr val="F9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17324D"/>
                </a:solidFill>
                <a:latin typeface="Aptos"/>
              </a:defRPr>
            </a:pPr>
            <a:r>
              <a:t>CALIDAD DEL DATO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441448"/>
            <a:ext cx="91440" cy="91440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07008" y="2331720"/>
            <a:ext cx="4370832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2F38"/>
                </a:solidFill>
                <a:latin typeface="Aptos"/>
              </a:defRPr>
            </a:pPr>
            <a:r>
              <a:t>Identificadores faltantes: clientes sin CustomerID no pueden segmentarse individualmente.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3355848"/>
            <a:ext cx="91440" cy="91440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3246120"/>
            <a:ext cx="4370832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2F38"/>
                </a:solidFill>
                <a:latin typeface="Aptos"/>
              </a:defRPr>
            </a:pPr>
            <a:r>
              <a:t>Devoluciones y cancelaciones: definir reglas consistentes para no distorsionar el gasto.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270248"/>
            <a:ext cx="91440" cy="91440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4160520"/>
            <a:ext cx="4370832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2F38"/>
                </a:solidFill>
                <a:latin typeface="Aptos"/>
              </a:defRPr>
            </a:pPr>
            <a:r>
              <a:t>Valores extremos: grandes compradores pueden alterar distancias y centroides.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828800"/>
            <a:ext cx="4572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B96B2C"/>
                </a:solidFill>
                <a:latin typeface="Aptos"/>
              </a:defRPr>
            </a:pPr>
            <a:r>
              <a:t>VALIDACIÓN DEL MODELO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2441448"/>
            <a:ext cx="91440" cy="91440"/>
          </a:xfrm>
          <a:prstGeom prst="rect">
            <a:avLst/>
          </a:prstGeom>
          <a:solidFill>
            <a:srgbClr val="B96B2C"/>
          </a:solidFill>
          <a:ln>
            <a:solidFill>
              <a:srgbClr val="B9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47688" y="2331720"/>
            <a:ext cx="4370832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2F38"/>
                </a:solidFill>
                <a:latin typeface="Aptos"/>
              </a:defRPr>
            </a:pPr>
            <a:r>
              <a:t>Ventana temporal: un solo año no garantiza patrones permanentes ni estacionalidad completa.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355848"/>
            <a:ext cx="91440" cy="91440"/>
          </a:xfrm>
          <a:prstGeom prst="rect">
            <a:avLst/>
          </a:prstGeom>
          <a:solidFill>
            <a:srgbClr val="B96B2C"/>
          </a:solidFill>
          <a:ln>
            <a:solidFill>
              <a:srgbClr val="B9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47688" y="3246120"/>
            <a:ext cx="4370832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2F38"/>
                </a:solidFill>
                <a:latin typeface="Aptos"/>
              </a:defRPr>
            </a:pPr>
            <a:r>
              <a:t>K-Means: presupone grupos relativamente compactos; comparar estabilidad y perfiles.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4270248"/>
            <a:ext cx="91440" cy="91440"/>
          </a:xfrm>
          <a:prstGeom prst="rect">
            <a:avLst/>
          </a:prstGeom>
          <a:solidFill>
            <a:srgbClr val="B96B2C"/>
          </a:solidFill>
          <a:ln>
            <a:solidFill>
              <a:srgbClr val="B9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4160520"/>
            <a:ext cx="4370832" cy="5486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32F38"/>
                </a:solidFill>
                <a:latin typeface="Aptos"/>
              </a:defRPr>
            </a:pPr>
            <a:r>
              <a:t>Interpretación: clústeres numerados son etiquetas técnicas, no categorías naturales.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26777"/>
                </a:solidFill>
                <a:latin typeface="Aptos"/>
              </a:defRPr>
            </a:pPr>
            <a:r>
              <a:t>SEGMENTACIÓN DE CLIENTES  |  ONLINE RETAIL  |  PROPUESTA METODOLÓGICA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26777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10896"/>
            <a:ext cx="1078992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177E89"/>
                </a:solidFill>
                <a:latin typeface="Aptos"/>
              </a:defRPr>
            </a:pPr>
            <a:r>
              <a:t>08 · 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7324D"/>
                </a:solidFill>
                <a:latin typeface="Aptos"/>
              </a:defRPr>
            </a:pPr>
            <a:r>
              <a:t>Plan recomendado para llevarlo a producción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25296"/>
            <a:ext cx="658368" cy="50292"/>
          </a:xfrm>
          <a:prstGeom prst="rect">
            <a:avLst/>
          </a:prstGeom>
          <a:solidFill>
            <a:srgbClr val="177E89"/>
          </a:solidFill>
          <a:ln>
            <a:solidFill>
              <a:srgbClr val="177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874519"/>
            <a:ext cx="1965960" cy="2331720"/>
          </a:xfrm>
          <a:prstGeom prst="roundRect">
            <a:avLst/>
          </a:prstGeom>
          <a:solidFill>
            <a:srgbClr val="DCEFEB"/>
          </a:solidFill>
          <a:ln>
            <a:solidFill>
              <a:srgbClr val="DC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2057400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77E89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2633472"/>
            <a:ext cx="1645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24D"/>
                </a:solidFill>
                <a:latin typeface="Aptos"/>
              </a:defRPr>
            </a:pPr>
            <a:r>
              <a:t>Ejecutar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108960"/>
            <a:ext cx="162763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Correr el notebook con el archivo original y registrar filas/clientes retenidos.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52344" y="2743200"/>
            <a:ext cx="256032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77E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44952" y="1874519"/>
            <a:ext cx="1965960" cy="2331720"/>
          </a:xfrm>
          <a:prstGeom prst="roundRect">
            <a:avLst/>
          </a:prstGeom>
          <a:solidFill>
            <a:srgbClr val="EAF1F5"/>
          </a:solidFill>
          <a:ln>
            <a:solidFill>
              <a:srgbClr val="EAF1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9544" y="2057400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7324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9544" y="2633472"/>
            <a:ext cx="1645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24D"/>
                </a:solidFill>
                <a:latin typeface="Aptos"/>
              </a:defRPr>
            </a:pPr>
            <a:r>
              <a:t>Validar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9544" y="3108960"/>
            <a:ext cx="162763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Comparar silhouette, tamaños, medianas RFM y estabilidad de los clústeres.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6" y="2743200"/>
            <a:ext cx="256032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77E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12664" y="1874519"/>
            <a:ext cx="1965960" cy="2331720"/>
          </a:xfrm>
          <a:prstGeom prst="roundRect">
            <a:avLst/>
          </a:prstGeom>
          <a:solidFill>
            <a:srgbClr val="F9EFE2"/>
          </a:solidFill>
          <a:ln>
            <a:solidFill>
              <a:srgbClr val="F9EF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77255" y="2057400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B96B2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7255" y="2633472"/>
            <a:ext cx="1645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24D"/>
                </a:solidFill>
                <a:latin typeface="Aptos"/>
              </a:defRPr>
            </a:pPr>
            <a:r>
              <a:t>Nombrar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7255" y="3108960"/>
            <a:ext cx="162763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Asignar nombres a partir de perfiles observados; documentar reglas de interpretación.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87768" y="2743200"/>
            <a:ext cx="256032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77E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0375" y="1874519"/>
            <a:ext cx="1965960" cy="2331720"/>
          </a:xfrm>
          <a:prstGeom prst="roundRect">
            <a:avLst/>
          </a:prstGeom>
          <a:solidFill>
            <a:srgbClr val="F2F5F7"/>
          </a:solidFill>
          <a:ln>
            <a:solidFill>
              <a:srgbClr val="F2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44967" y="2057400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526777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44967" y="2633472"/>
            <a:ext cx="1645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24D"/>
                </a:solidFill>
                <a:latin typeface="Aptos"/>
              </a:defRPr>
            </a:pPr>
            <a:r>
              <a:t>Pilotear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44967" y="3108960"/>
            <a:ext cx="162763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Lanzar campañas controladas por segmento y medir margen/retención incremental.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2743200"/>
            <a:ext cx="256032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77E8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48088" y="1874519"/>
            <a:ext cx="1965960" cy="2331720"/>
          </a:xfrm>
          <a:prstGeom prst="roundRect">
            <a:avLst/>
          </a:prstGeom>
          <a:solidFill>
            <a:srgbClr val="DCEFEB"/>
          </a:solidFill>
          <a:ln>
            <a:solidFill>
              <a:srgbClr val="DCE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2680" y="2057400"/>
            <a:ext cx="5486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177E89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2633472"/>
            <a:ext cx="1645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324D"/>
                </a:solidFill>
                <a:latin typeface="Aptos"/>
              </a:defRPr>
            </a:pPr>
            <a:r>
              <a:t>Actualizar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12680" y="3108960"/>
            <a:ext cx="1627632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0">
                <a:solidFill>
                  <a:srgbClr val="232F38"/>
                </a:solidFill>
                <a:latin typeface="Aptos"/>
              </a:defRPr>
            </a:pPr>
            <a:r>
              <a:t>Recalcular RFM periódicamente y monitorear cambios en composición.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92040"/>
            <a:ext cx="1042416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77E89"/>
                </a:solidFill>
                <a:latin typeface="Aptos"/>
              </a:defRPr>
            </a:pPr>
            <a:r>
              <a:t>Entregable final esperado: tabla de clientes con clúster asignado, perfil estadístico por grupo y plan de acción con KPI.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28816"/>
            <a:ext cx="9875520" cy="1645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800" b="0">
                <a:solidFill>
                  <a:srgbClr val="526777"/>
                </a:solidFill>
                <a:latin typeface="Aptos"/>
              </a:defRPr>
            </a:pPr>
            <a:r>
              <a:t>SEGMENTACIÓN DE CLIENTES  |  ONLINE RETAIL  |  PROPUESTA METODOLÓGICA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01384"/>
            <a:ext cx="5943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526777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640080"/>
            <a:ext cx="10607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DCEFEB"/>
                </a:solidFill>
                <a:latin typeface="Aptos"/>
              </a:defRPr>
            </a:pPr>
            <a:r>
              <a:t>CIERRE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10515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3000" b="1">
                <a:solidFill>
                  <a:srgbClr val="FFFFFF"/>
                </a:solidFill>
                <a:latin typeface="Aptos"/>
              </a:defRPr>
            </a:pPr>
            <a:r>
              <a:t>La segmentación solo crea valor cuando cambia una decisión.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9875520" cy="8686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EAF1F5"/>
                </a:solidFill>
                <a:latin typeface="Aptos"/>
              </a:defRPr>
            </a:pPr>
            <a:r>
              <a:t>RFM + K-Means ofrece una ruta práctica para identificar patrones, pero los segmentos deben confirmarse con los datos reales y validarse con resultados de negocio.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069080"/>
            <a:ext cx="914400" cy="54864"/>
          </a:xfrm>
          <a:prstGeom prst="rect">
            <a:avLst/>
          </a:prstGeom>
          <a:solidFill>
            <a:srgbClr val="B96B2C"/>
          </a:solidFill>
          <a:ln>
            <a:solidFill>
              <a:srgbClr val="B96B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241280" cy="6858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DCEFEB"/>
                </a:solidFill>
                <a:latin typeface="Aptos"/>
              </a:defRPr>
            </a:pPr>
            <a:r>
              <a:t>Estado actual: metodología y perfiles de referencia preparados; pendiente ejecutar el archivo fuente para informar cifras y clústeres reales.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9875520" cy="228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600"/>
              </a:spcAft>
              <a:defRPr sz="900" b="0">
                <a:solidFill>
                  <a:srgbClr val="EAF1F5"/>
                </a:solidFill>
                <a:latin typeface="Aptos"/>
              </a:defRPr>
            </a:pPr>
            <a:r>
              <a:t>Dataset de referencia: Kaggle Online Retail · https://www.kaggle.com/datasets/vijayuv/onlineretail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DCEFE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