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Space Grotesk"/>
      <ns0:bold ns1:id="rIdFont17"/>
    </ns0:embeddedFont>
    <ns0:embeddedFont>
      <ns0:font typeface="DM Sans"/>
      <ns0:italic ns1:id="rIdFont18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06df1c4e-4baf-4064-a620-4971c44f028d.fntdata" /><ns0:Relationship Id="rIdFont18" Type="http://schemas.openxmlformats.org/officeDocument/2006/relationships/font" Target="fonts/acc5d397-a5f9-4c47-b58f-7ec0dd682a67.fntdata" /><ns0:Relationship Id="rIdFont19" Type="http://schemas.openxmlformats.org/officeDocument/2006/relationships/font" Target="fonts/7045e4d5-f0c0-4bfc-b3f5-a9137965de7b.fntdata" /><ns0:Relationship Id="rIdFont20" Type="http://schemas.openxmlformats.org/officeDocument/2006/relationships/font" Target="fonts/54ef83de-2cc7-4578-ab4c-9004a2a7551f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65290"/>
            <a:ext cx="14859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00300" y="4465290"/>
            <a:ext cx="173355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38650" y="4465290"/>
            <a:ext cx="13335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465290"/>
            <a:ext cx="28575" cy="419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00300" y="4465290"/>
            <a:ext cx="28575" cy="419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38650" y="4465290"/>
            <a:ext cx="28575" cy="419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1973609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0A5FA"/>
                </a:solidFill>
                <a:latin typeface="DM Sans"/>
              </a:rPr>
              <a:t>INFORME EJECUTIVO · OCTUBRE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221259"/>
            <a:ext cx="860107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Space Grotesk"/>
              </a:rPr>
              <a:t>Segmentación de Clientes mediante K-Means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550890"/>
            <a:ext cx="6572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DM Sans"/>
              </a:rPr>
              <a:t>Análisis no supervisado de patrones de consumo e ingresos para la toma de decisiones comerciales estratégicas en Mall Customers.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575" y="4465290"/>
            <a:ext cx="1631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DM Sans"/>
              </a:rPr>
              <a:t>Muestra Analizada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" y="4636740"/>
            <a:ext cx="163115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DM Sans"/>
              </a:rPr>
              <a:t>200 Registros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1275" y="4465290"/>
            <a:ext cx="19407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DM Sans"/>
              </a:rPr>
              <a:t>Grupos Óptimos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1275" y="4636740"/>
            <a:ext cx="194071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DM Sans"/>
              </a:rPr>
              <a:t>K = 5 Segmentos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4465290"/>
            <a:ext cx="14406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DM Sans"/>
              </a:rPr>
              <a:t>Coeficiente Silueta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4636740"/>
            <a:ext cx="144065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60A5FA"/>
                </a:solidFill>
                <a:latin typeface="DM Sans"/>
              </a:rPr>
              <a:t>0.555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747986"/>
            <a:ext cx="5257800" cy="1274266"/>
          </a:xfrm>
          <a:prstGeom prst="roundRect">
            <a:avLst>
              <a:gd name="adj" fmla="val 89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212752"/>
            <a:ext cx="5257800" cy="1274266"/>
          </a:xfrm>
          <a:prstGeom prst="roundRect">
            <a:avLst>
              <a:gd name="adj" fmla="val 89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677519"/>
            <a:ext cx="5257800" cy="1274266"/>
          </a:xfrm>
          <a:prstGeom prst="roundRect">
            <a:avLst>
              <a:gd name="adj" fmla="val 89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299120"/>
            <a:ext cx="5257800" cy="510167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299120"/>
            <a:ext cx="5257800" cy="510167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2052786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3517552"/>
            <a:ext cx="1905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4982319"/>
            <a:ext cx="1333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DM Sans"/>
              </a:rPr>
              <a:t>VISIÓN GENERAL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Resumen Ejecutivo del Estudio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2024211"/>
            <a:ext cx="6175771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Objetivo del Análisis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2319486"/>
            <a:ext cx="48006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DM Sans"/>
              </a:rPr>
              <a:t>Agrupar clientes por nivel de ingreso anual y puntuación de gasto para diseñar estrategias dirigidas.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488977"/>
            <a:ext cx="6175771" cy="2190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Resultado Clave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784252"/>
            <a:ext cx="48006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DM Sans"/>
              </a:rPr>
              <a:t>La solución de 5 clusters optimiza la separación matemática y revela conductas diferenciadas de compra.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4953744"/>
            <a:ext cx="6175771" cy="21907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Aplicación Comercial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5249019"/>
            <a:ext cx="48006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DM Sans"/>
              </a:rPr>
              <a:t>Permite priorizar presupuestos de marketing hacia clientes de alto valor y campañas de reactivación.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49685"/>
            <a:ext cx="350520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249685"/>
            <a:ext cx="350520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249685"/>
            <a:ext cx="350520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297560"/>
            <a:ext cx="5372100" cy="1038225"/>
          </a:xfrm>
          <a:prstGeom prst="roundRect">
            <a:avLst>
              <a:gd name="adj" fmla="val 11009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4183260"/>
            <a:ext cx="5372100" cy="1266825"/>
          </a:xfrm>
          <a:prstGeom prst="roundRect">
            <a:avLst>
              <a:gd name="adj" fmla="val 902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4592835"/>
            <a:ext cx="1905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4478535"/>
            <a:ext cx="1905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DM Sans"/>
              </a:rPr>
              <a:t>ANÁLISIS EXPLORATORIO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Perfil de la Muestra (200 Clientes)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731" y="2525910"/>
            <a:ext cx="3690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DM Sans"/>
              </a:rPr>
              <a:t>EDAD PROMEDIO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731" y="2773560"/>
            <a:ext cx="3690937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2563EB"/>
                </a:solidFill>
                <a:latin typeface="Space Grotesk"/>
              </a:rPr>
              <a:t>38.85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731" y="3430785"/>
            <a:ext cx="3690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DM Sans"/>
              </a:rPr>
              <a:t>Rango: 18 - 70 años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0531" y="2525910"/>
            <a:ext cx="3690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DM Sans"/>
              </a:rPr>
              <a:t>INGRESO ANUAL MEDIO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0531" y="2773560"/>
            <a:ext cx="3690937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2563EB"/>
                </a:solidFill>
                <a:latin typeface="Space Grotesk"/>
              </a:rPr>
              <a:t>$60.56k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0531" y="3430785"/>
            <a:ext cx="3690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DM Sans"/>
              </a:rPr>
              <a:t>Rango: $15k - $137k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4331" y="2525910"/>
            <a:ext cx="3690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DM Sans"/>
              </a:rPr>
              <a:t>SCORE GASTO MEDIO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4331" y="2773560"/>
            <a:ext cx="3690937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2563EB"/>
                </a:solidFill>
                <a:latin typeface="Space Grotesk"/>
              </a:rPr>
              <a:t>50.20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4331" y="3430785"/>
            <a:ext cx="3690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DM Sans"/>
              </a:rPr>
              <a:t>Escala: 1 - 99 puntos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4573785"/>
            <a:ext cx="6325790" cy="2000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40AF"/>
                </a:solidFill>
                <a:latin typeface="Space Grotesk"/>
              </a:rPr>
              <a:t>Distribución por Género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4830960"/>
            <a:ext cx="6024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3A8A"/>
                </a:solidFill>
                <a:latin typeface="DM Sans"/>
              </a:rPr>
              <a:t>56% Mujeres</a:t>
            </a:r>
            <a:r>
              <a:rPr b="0" sz="1350" i="0" u="none">
                <a:solidFill>
                  <a:srgbClr val="1E3A8A"/>
                </a:solidFill>
                <a:latin typeface="DM Sans"/>
              </a:rPr>
              <a:t> (112) · </a:t>
            </a:r>
            <a:r>
              <a:rPr b="1" sz="1350" i="0" u="none">
                <a:solidFill>
                  <a:srgbClr val="1E3A8A"/>
                </a:solidFill>
                <a:latin typeface="DM Sans"/>
              </a:rPr>
              <a:t>44% Hombres</a:t>
            </a:r>
            <a:r>
              <a:rPr b="0" sz="1350" i="0" u="none">
                <a:solidFill>
                  <a:srgbClr val="1E3A8A"/>
                </a:solidFill>
                <a:latin typeface="DM Sans"/>
              </a:rPr>
              <a:t> (88)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525" y="4459485"/>
            <a:ext cx="5705475" cy="2000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40AF"/>
                </a:solidFill>
                <a:latin typeface="Space Grotesk"/>
              </a:rPr>
              <a:t>Correlación Relevante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6525" y="4716660"/>
            <a:ext cx="4914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3A8A"/>
                </a:solidFill>
                <a:latin typeface="DM Sans"/>
              </a:rPr>
              <a:t>-0.327</a:t>
            </a:r>
            <a:r>
              <a:rPr b="0" sz="1350" i="0" u="none">
                <a:solidFill>
                  <a:srgbClr val="1E3A8A"/>
                </a:solidFill>
                <a:latin typeface="DM Sans"/>
              </a:rPr>
              <a:t> entre Edad y Score de Gasto (menor edad, mayor gasto)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24600" y="2506860"/>
            <a:ext cx="52578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3945135"/>
            <a:ext cx="52578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24600" y="3745110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2506860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24600" y="2506860"/>
            <a:ext cx="38100" cy="12477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72875" y="2506860"/>
            <a:ext cx="9525" cy="1247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4600" y="5183385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24600" y="3945135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24600" y="3945135"/>
            <a:ext cx="38100" cy="12477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72875" y="3945135"/>
            <a:ext cx="9525" cy="1247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9600" y="2321123"/>
            <a:ext cx="5257800" cy="30575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09600" y="2321123"/>
          <a:ext cx="5248273" cy="30575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62026"/>
                <a:gridCol w="1034801"/>
                <a:gridCol w="2051446"/>
              </a:tblGrid>
              <a:tr h="436789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DM Sans"/>
                        </a:rPr>
                        <a:t>Número Clusters (K)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DM Sans"/>
                        </a:rPr>
                        <a:t>Inercia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DM Sans"/>
                        </a:rPr>
                        <a:t>Coeficiente Silueta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K = 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269.69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0.321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K = 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157.70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0.467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K = 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108.92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0.494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40AF"/>
                          </a:solidFill>
                          <a:latin typeface="DM Sans"/>
                        </a:rPr>
                        <a:t>K = 5 (Óptimo)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40AF"/>
                          </a:solidFill>
                          <a:latin typeface="DM Sans"/>
                        </a:rPr>
                        <a:t>65.57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40AF"/>
                          </a:solidFill>
                          <a:latin typeface="DM Sans"/>
                        </a:rPr>
                        <a:t>0.555 ★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K = 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55.06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0.540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6791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K = 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44.86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0.528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DM Sans"/>
              </a:rPr>
              <a:t>EVALUACIÓN ALGORÍTMICA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Selección de Grupos (K-Means)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783085"/>
            <a:ext cx="55626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Método de Silueta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078360"/>
            <a:ext cx="47720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DM Sans"/>
              </a:rPr>
              <a:t>La solución K=5 maximiza el valor de silueta (0.555), garantizando agrupaciones compactas e inter-grupos bien separados.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221360"/>
            <a:ext cx="55626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Método del Codo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516635"/>
            <a:ext cx="47720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DM Sans"/>
              </a:rPr>
              <a:t>La inercia cae significativamente hasta K=5 (65.57), mostrándose un punto de inflexión claro en la suma de errores al cuadrado.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99120"/>
            <a:ext cx="3530649" cy="5101679"/>
          </a:xfrm>
          <a:prstGeom prst="roundRect">
            <a:avLst>
              <a:gd name="adj" fmla="val 32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1299120"/>
            <a:ext cx="3530649" cy="5101679"/>
          </a:xfrm>
          <a:prstGeom prst="roundRect">
            <a:avLst>
              <a:gd name="adj" fmla="val 323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1299120"/>
            <a:ext cx="3530649" cy="5101679"/>
          </a:xfrm>
          <a:prstGeom prst="roundRect">
            <a:avLst>
              <a:gd name="adj" fmla="val 32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5825" y="3587948"/>
            <a:ext cx="2978199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06974" y="3587948"/>
            <a:ext cx="2978199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8124" y="3587948"/>
            <a:ext cx="2978199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5825" y="1575345"/>
            <a:ext cx="923925" cy="228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06974" y="1575345"/>
            <a:ext cx="885825" cy="22860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28124" y="1575345"/>
            <a:ext cx="914400" cy="228600"/>
          </a:xfrm>
          <a:prstGeom prst="roundRect">
            <a:avLst>
              <a:gd name="adj" fmla="val 25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DM Sans"/>
              </a:rPr>
              <a:t>MAPA DE SEGMENTOS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Segmentación Identificada (Parte 1: Mayor Relevancia)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5781526"/>
            <a:ext cx="307344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DM Sans"/>
              </a:rPr>
              <a:t>Base principal para fidelización estandarizada y programas de puntos.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6974" y="5781526"/>
            <a:ext cx="307344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66534"/>
                </a:solidFill>
                <a:latin typeface="DM Sans"/>
              </a:rPr>
              <a:t>Target prioritario VIP. Proteger relación con experiencia exclusiva.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8124" y="5781526"/>
            <a:ext cx="307344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DM Sans"/>
              </a:rPr>
              <a:t>Oportunidad no captada. Requiere campañas de activación directas.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" y="1613445"/>
            <a:ext cx="8286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DM Sans"/>
              </a:rPr>
              <a:t>SEGMENTO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1870620"/>
            <a:ext cx="390888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Intermedios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2137320"/>
            <a:ext cx="37227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DM Sans"/>
              </a:rPr>
              <a:t>40.5% de la muestra (81 clientes)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50" y="3749873"/>
            <a:ext cx="3317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DM Sans"/>
              </a:rPr>
              <a:t>Edad Promedio:</a:t>
            </a:r>
            <a:r>
              <a:rPr b="0" sz="1050" i="0" u="none">
                <a:solidFill>
                  <a:srgbClr val="334155"/>
                </a:solidFill>
                <a:latin typeface="DM Sans"/>
              </a:rPr>
              <a:t> 42.7 años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50" y="3959423"/>
            <a:ext cx="3317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DM Sans"/>
              </a:rPr>
              <a:t>Ingreso Medio:</a:t>
            </a:r>
            <a:r>
              <a:rPr b="0" sz="1050" i="0" u="none">
                <a:solidFill>
                  <a:srgbClr val="334155"/>
                </a:solidFill>
                <a:latin typeface="DM Sans"/>
              </a:rPr>
              <a:t> $55.3k USD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750" y="4168973"/>
            <a:ext cx="3317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DM Sans"/>
              </a:rPr>
              <a:t>Gasto Medio:</a:t>
            </a:r>
            <a:r>
              <a:rPr b="0" sz="1050" i="0" u="none">
                <a:solidFill>
                  <a:srgbClr val="334155"/>
                </a:solidFill>
                <a:latin typeface="DM Sans"/>
              </a:rPr>
              <a:t> 49.5 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2224" y="1613445"/>
            <a:ext cx="7905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DM Sans"/>
              </a:rPr>
              <a:t>SEGMENTO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6974" y="1870620"/>
            <a:ext cx="390888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4532D"/>
                </a:solidFill>
                <a:latin typeface="Space Grotesk"/>
              </a:rPr>
              <a:t>Alto Ingreso / Alto Gasto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6974" y="2137320"/>
            <a:ext cx="37227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66534"/>
                </a:solidFill>
                <a:latin typeface="DM Sans"/>
              </a:rPr>
              <a:t>19.5% de la muestra (39 clientes)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8899" y="3749873"/>
            <a:ext cx="3317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4532D"/>
                </a:solidFill>
                <a:latin typeface="DM Sans"/>
              </a:rPr>
              <a:t>Edad Promedio:</a:t>
            </a:r>
            <a:r>
              <a:rPr b="0" sz="1050" i="0" u="none">
                <a:solidFill>
                  <a:srgbClr val="14532D"/>
                </a:solidFill>
                <a:latin typeface="DM Sans"/>
              </a:rPr>
              <a:t> 32.7 años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8899" y="3959423"/>
            <a:ext cx="3317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4532D"/>
                </a:solidFill>
                <a:latin typeface="DM Sans"/>
              </a:rPr>
              <a:t>Ingreso Medio:</a:t>
            </a:r>
            <a:r>
              <a:rPr b="0" sz="1050" i="0" u="none">
                <a:solidFill>
                  <a:srgbClr val="14532D"/>
                </a:solidFill>
                <a:latin typeface="DM Sans"/>
              </a:rPr>
              <a:t> $86.5k 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8899" y="4168973"/>
            <a:ext cx="3317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4532D"/>
                </a:solidFill>
                <a:latin typeface="DM Sans"/>
              </a:rPr>
              <a:t>Gasto Medio:</a:t>
            </a:r>
            <a:r>
              <a:rPr b="0" sz="1050" i="0" u="none">
                <a:solidFill>
                  <a:srgbClr val="14532D"/>
                </a:solidFill>
                <a:latin typeface="DM Sans"/>
              </a:rPr>
              <a:t> 82.1 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3374" y="1613445"/>
            <a:ext cx="819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DM Sans"/>
              </a:rPr>
              <a:t>SEGMENTO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8124" y="1870620"/>
            <a:ext cx="38638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Alto Ingreso / Bajo Gasto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8124" y="2137320"/>
            <a:ext cx="37227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DM Sans"/>
              </a:rPr>
              <a:t>17.5% de la muestra (35 clientes)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90049" y="3749873"/>
            <a:ext cx="3317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DM Sans"/>
              </a:rPr>
              <a:t>Edad Promedio:</a:t>
            </a:r>
            <a:r>
              <a:rPr b="0" sz="1050" i="0" u="none">
                <a:solidFill>
                  <a:srgbClr val="334155"/>
                </a:solidFill>
                <a:latin typeface="DM Sans"/>
              </a:rPr>
              <a:t> 41.1 años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90049" y="3959423"/>
            <a:ext cx="3317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DM Sans"/>
              </a:rPr>
              <a:t>Ingreso Medio:</a:t>
            </a:r>
            <a:r>
              <a:rPr b="0" sz="1050" i="0" u="none">
                <a:solidFill>
                  <a:srgbClr val="334155"/>
                </a:solidFill>
                <a:latin typeface="DM Sans"/>
              </a:rPr>
              <a:t> $88.2k USD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90049" y="4168973"/>
            <a:ext cx="3317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DM Sans"/>
              </a:rPr>
              <a:t>Gasto Medio:</a:t>
            </a:r>
            <a:r>
              <a:rPr b="0" sz="1050" i="0" u="none">
                <a:solidFill>
                  <a:srgbClr val="334155"/>
                </a:solidFill>
                <a:latin typeface="DM Sans"/>
              </a:rPr>
              <a:t> 17.1 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40160"/>
            <a:ext cx="5334000" cy="3219450"/>
          </a:xfrm>
          <a:prstGeom prst="roundRect">
            <a:avLst>
              <a:gd name="adj" fmla="val 35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340173"/>
            <a:ext cx="5334000" cy="3019425"/>
          </a:xfrm>
          <a:prstGeom prst="roundRect">
            <a:avLst>
              <a:gd name="adj" fmla="val 37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2025" y="2640210"/>
            <a:ext cx="952500" cy="2286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450085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40160"/>
            <a:ext cx="53340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240160"/>
            <a:ext cx="9525" cy="32194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34075" y="2240160"/>
            <a:ext cx="9525" cy="32194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00825" y="2740223"/>
            <a:ext cx="962025" cy="228600"/>
          </a:xfrm>
          <a:prstGeom prst="roundRect">
            <a:avLst>
              <a:gd name="adj" fmla="val 25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400" y="5350073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8400" y="2340173"/>
            <a:ext cx="5334000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400" y="2340173"/>
            <a:ext cx="9525" cy="30194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72875" y="2340173"/>
            <a:ext cx="9525" cy="30194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2025" y="3668910"/>
            <a:ext cx="1441400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55825" y="3668910"/>
            <a:ext cx="1441400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49625" y="3668910"/>
            <a:ext cx="1441400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00825" y="3768923"/>
            <a:ext cx="1441400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94625" y="3768923"/>
            <a:ext cx="1441400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88425" y="3768923"/>
            <a:ext cx="1441400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DM Sans"/>
              </a:rPr>
              <a:t>MAPA DE SEGMENTOS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Segmentación Identificada (Parte 2: Nichos de Extremo)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6325" y="2678310"/>
            <a:ext cx="8191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DM Sans"/>
              </a:rPr>
              <a:t>SEGMENTO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025" y="2954535"/>
            <a:ext cx="6075759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Bajo Ingreso / Alto Gasto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025" y="3287910"/>
            <a:ext cx="57864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DM Sans"/>
              </a:rPr>
              <a:t>11.0% de la muestra (22 clientes)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025" y="4507110"/>
            <a:ext cx="47244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DM Sans"/>
              </a:rPr>
              <a:t>Perfil joven de alta propensión al consumo. Promociones de tendencia y beneficios por recurrencia manteniendo control del margen.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5125" y="2778323"/>
            <a:ext cx="8286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DM Sans"/>
              </a:rPr>
              <a:t>SEGMENTO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0825" y="3054548"/>
            <a:ext cx="55911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Bajo Ingreso / Bajo Gasto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0825" y="3387923"/>
            <a:ext cx="55911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DM Sans"/>
              </a:rPr>
              <a:t>11.5% de la muestra (23 clientes)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0825" y="4607123"/>
            <a:ext cx="4724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DM Sans"/>
              </a:rPr>
              <a:t>Clientes de sensibilidad alta al precio. Enfocar exclusivamente con comunicaciones masivas de bajo coste e incentivos selectivos.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5850" y="3792735"/>
            <a:ext cx="1492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DM Sans"/>
              </a:rPr>
              <a:t>EDAD MEDIA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5850" y="3945135"/>
            <a:ext cx="14921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25.27 años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79650" y="3792735"/>
            <a:ext cx="1492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DM Sans"/>
              </a:rPr>
              <a:t>INGRESO MEDIO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79650" y="3945135"/>
            <a:ext cx="14921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$25.73k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3450" y="3792735"/>
            <a:ext cx="1492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DM Sans"/>
              </a:rPr>
              <a:t>GASTO MEDIO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3450" y="3945135"/>
            <a:ext cx="14921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8B5CF6"/>
                </a:solidFill>
                <a:latin typeface="DM Sans"/>
              </a:rPr>
              <a:t>79.36 pts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4650" y="3892748"/>
            <a:ext cx="1492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DM Sans"/>
              </a:rPr>
              <a:t>EDAD MEDIA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4650" y="4045148"/>
            <a:ext cx="14921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45.22 años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8450" y="3892748"/>
            <a:ext cx="1492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DM Sans"/>
              </a:rPr>
              <a:t>INGRESO MEDIO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18450" y="4045148"/>
            <a:ext cx="14921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$26.30k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12250" y="3892748"/>
            <a:ext cx="1492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DM Sans"/>
              </a:rPr>
              <a:t>GASTO MEDIO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12250" y="4045148"/>
            <a:ext cx="14921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64748B"/>
                </a:solidFill>
                <a:latin typeface="DM Sans"/>
              </a:rPr>
              <a:t>20.91 pts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40185"/>
            <a:ext cx="10972800" cy="28194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440185"/>
          <a:ext cx="10963274" cy="28194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562969"/>
                <a:gridCol w="4616648"/>
                <a:gridCol w="3783657"/>
              </a:tblGrid>
              <a:tr h="46990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DM Sans"/>
                        </a:rPr>
                        <a:t>Segmento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DM Sans"/>
                        </a:rPr>
                        <a:t>Estrategia Recomendada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DM Sans"/>
                        </a:rPr>
                        <a:t>KPIs Sugeridos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Seg 0 - Intermedios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Programa de puntos e incentivos cruzados.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Frecuencia de compra, Gasto real por cliente.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66534"/>
                          </a:solidFill>
                          <a:latin typeface="DM Sans"/>
                        </a:rPr>
                        <a:t>Seg 1 - Alto Ing/Gasto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Beneficios VIP exclusivos y atención personalizada.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Tasa de retención, Valor de vida útil (LTV).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6B21A8"/>
                          </a:solidFill>
                          <a:latin typeface="DM Sans"/>
                        </a:rPr>
                        <a:t>Seg 2 - Bajo Ing / Alto Gasto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Promociones de tendencia e incentivos por recurrencia.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Tasa de recompra, Margen sobre promoción.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2410C"/>
                          </a:solidFill>
                          <a:latin typeface="DM Sans"/>
                        </a:rPr>
                        <a:t>Seg 3 - Alto Ing / Bajo Gasto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Campañas piloto de activación para vencer barreras.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Conversión incremental, Costo de activación.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DM Sans"/>
                        </a:rPr>
                        <a:t>Seg 4 - Bajo Ing/Gasto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Ofertas selectivas mediante canales de bajo costo.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Conversión general, Margen incremental.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DM Sans"/>
              </a:rPr>
              <a:t>ESTRATEGIA COMERCIAL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Plan de Acción e Indicadores Clave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99120"/>
            <a:ext cx="5334000" cy="5101679"/>
          </a:xfrm>
          <a:prstGeom prst="roundRect">
            <a:avLst>
              <a:gd name="adj" fmla="val 2240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299120"/>
            <a:ext cx="5334000" cy="5101679"/>
          </a:xfrm>
          <a:prstGeom prst="roundRect">
            <a:avLst>
              <a:gd name="adj" fmla="val 224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603920"/>
            <a:ext cx="19050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1603920"/>
            <a:ext cx="1905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DM Sans"/>
              </a:rPr>
              <a:t>GOBERNANZA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Limitaciones del Estudio y Siguientes Pasos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1575345"/>
            <a:ext cx="6275784" cy="247650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F1239"/>
                </a:solidFill>
                <a:latin typeface="Space Grotesk"/>
              </a:rPr>
              <a:t>Limitaciones Actuales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1575345"/>
            <a:ext cx="5667375" cy="247650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66534"/>
                </a:solidFill>
                <a:latin typeface="Space Grotesk"/>
              </a:rPr>
              <a:t>Recomendaciones de Acción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1975395"/>
            <a:ext cx="4876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881337"/>
                </a:solidFill>
                <a:latin typeface="DM Sans"/>
              </a:rPr>
              <a:t>Muestra Acotada:</a:t>
            </a:r>
            <a:r>
              <a:rPr b="0" sz="1125" i="0" u="none">
                <a:solidFill>
                  <a:srgbClr val="881337"/>
                </a:solidFill>
                <a:latin typeface="DM Sans"/>
              </a:rPr>
              <a:t> Solo 200 registros; los resultados requieren validación externa.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2470695"/>
            <a:ext cx="4876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881337"/>
                </a:solidFill>
                <a:latin typeface="DM Sans"/>
              </a:rPr>
              <a:t>Score Sintético:</a:t>
            </a:r>
            <a:r>
              <a:rPr b="0" sz="1125" i="0" u="none">
                <a:solidFill>
                  <a:srgbClr val="881337"/>
                </a:solidFill>
                <a:latin typeface="DM Sans"/>
              </a:rPr>
              <a:t> </a:t>
            </a:r>
            <a:r>
              <a:rPr b="0" sz="1125" i="1" u="none">
                <a:solidFill>
                  <a:srgbClr val="881337"/>
                </a:solidFill>
                <a:latin typeface="DM Sans"/>
              </a:rPr>
              <a:t>Spending Score</a:t>
            </a:r>
            <a:r>
              <a:rPr b="0" sz="1125" i="0" u="none">
                <a:solidFill>
                  <a:srgbClr val="881337"/>
                </a:solidFill>
                <a:latin typeface="DM Sans"/>
              </a:rPr>
              <a:t> no equivale directamente a ingresos o ventas netas reales.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2965995"/>
            <a:ext cx="4876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881337"/>
                </a:solidFill>
                <a:latin typeface="DM Sans"/>
              </a:rPr>
              <a:t>Falta de Historial:</a:t>
            </a:r>
            <a:r>
              <a:rPr b="0" sz="1125" i="0" u="none">
                <a:solidFill>
                  <a:srgbClr val="881337"/>
                </a:solidFill>
                <a:latin typeface="DM Sans"/>
              </a:rPr>
              <a:t> No se dispone de datos transaccionales de frecuencia ni recencia (RFM).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1975395"/>
            <a:ext cx="4876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4532D"/>
                </a:solidFill>
                <a:latin typeface="DM Sans"/>
              </a:rPr>
              <a:t>Validación Piloto:</a:t>
            </a:r>
            <a:r>
              <a:rPr b="0" sz="1125" i="0" u="none">
                <a:solidFill>
                  <a:srgbClr val="14532D"/>
                </a:solidFill>
                <a:latin typeface="DM Sans"/>
              </a:rPr>
              <a:t> Implementar pruebas A/B con grupos de control antes de escalar gasto.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2470695"/>
            <a:ext cx="4876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4532D"/>
                </a:solidFill>
                <a:latin typeface="DM Sans"/>
              </a:rPr>
              <a:t>Integración RFM:</a:t>
            </a:r>
            <a:r>
              <a:rPr b="0" sz="1125" i="0" u="none">
                <a:solidFill>
                  <a:srgbClr val="14532D"/>
                </a:solidFill>
                <a:latin typeface="DM Sans"/>
              </a:rPr>
              <a:t> Enriquecer el algoritmo incorporando transacciones reales de caja.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2965995"/>
            <a:ext cx="4876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4532D"/>
                </a:solidFill>
                <a:latin typeface="DM Sans"/>
              </a:rPr>
              <a:t>Modelado Multivariable:</a:t>
            </a:r>
            <a:r>
              <a:rPr b="0" sz="1125" i="0" u="none">
                <a:solidFill>
                  <a:srgbClr val="14532D"/>
                </a:solidFill>
                <a:latin typeface="DM Sans"/>
              </a:rPr>
              <a:t> Evaluar modelos de 3 variables incluyendo la variable Edad.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91000" y="4367212"/>
            <a:ext cx="3810000" cy="409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91000" y="4367212"/>
            <a:ext cx="3810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0735" y="2081212"/>
            <a:ext cx="215038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0A5FA"/>
                </a:solidFill>
                <a:latin typeface="DM Sans"/>
              </a:rPr>
              <a:t>CONCLUSIÓN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" y="2328862"/>
            <a:ext cx="100012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sz="3000" i="0" u="none">
                <a:solidFill>
                  <a:srgbClr val="FFFFFF"/>
                </a:solidFill>
                <a:latin typeface="Space Grotesk"/>
              </a:rPr>
              <a:t>Segmentar permite pasar de la intuición a acciones comerciales dirigidas.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3471862"/>
            <a:ext cx="7143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DM Sans"/>
              </a:rPr>
              <a:t>El modelo de K-Means establece la base estructural. El éxito comercial dependerá de validar estos perfiles con datos transaccionales reales.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14750" y="4605337"/>
            <a:ext cx="4762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DM Sans"/>
              </a:rPr>
              <a:t>¿Dudas o preguntas sobre el informe?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176584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1100" y="1028700"/>
            <a:ext cx="2812851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Space Grotesk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6475" y="1799183"/>
            <a:ext cx="99155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DM Sans"/>
              </a:rPr>
              <a:t>https://www.logicerp.com/blog/wp-content/uploads/2025/12/Retail-Analytics-How-Supermarket-can-benefits-to-streamline-their-business.jpg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6475" y="2008733"/>
            <a:ext cx="2274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www.logicerp.com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