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S1
Gasto
moderado</c:v>
                </c:pt>
                <c:pt idx="1">
                  <c:v>S2
Alto ingreso
y gasto</c:v>
                </c:pt>
                <c:pt idx="2">
                  <c:v>S3
Alto gasto
relativo</c:v>
                </c:pt>
                <c:pt idx="3">
                  <c:v>S4
Alto ingreso,
bajo gasto</c:v>
                </c:pt>
                <c:pt idx="4">
                  <c:v>S5
Bajo ingreso
y gasto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</c:v>
                </c:pt>
                <c:pt idx="1">
                  <c:v>39</c:v>
                </c:pt>
                <c:pt idx="2">
                  <c:v>22</c:v>
                </c:pt>
                <c:pt idx="3">
                  <c:v>35</c:v>
                </c:pt>
                <c:pt idx="4">
                  <c:v>23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1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 medio (k$)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S1 Gasto moderado</c:v>
                </c:pt>
                <c:pt idx="1">
                  <c:v>S2 Alto-alto</c:v>
                </c:pt>
                <c:pt idx="2">
                  <c:v>S3 Bajo ingreso/alto gasto</c:v>
                </c:pt>
                <c:pt idx="3">
                  <c:v>S4 Alto ingreso/bajo gasto</c:v>
                </c:pt>
                <c:pt idx="4">
                  <c:v>S5 Bajo-bajo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55.3</c:v>
                </c:pt>
                <c:pt idx="1">
                  <c:v>86.5</c:v>
                </c:pt>
                <c:pt idx="2">
                  <c:v>25.7</c:v>
                </c:pt>
                <c:pt idx="3">
                  <c:v>88.2</c:v>
                </c:pt>
                <c:pt idx="4">
                  <c:v>26.3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Gasto medio (1–100)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S1 Gasto moderado</c:v>
                </c:pt>
                <c:pt idx="1">
                  <c:v>S2 Alto-alto</c:v>
                </c:pt>
                <c:pt idx="2">
                  <c:v>S3 Bajo ingreso/alto gasto</c:v>
                </c:pt>
                <c:pt idx="3">
                  <c:v>S4 Alto ingreso/bajo gasto</c:v>
                </c:pt>
                <c:pt idx="4">
                  <c:v>S5 Bajo-bajo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49.5</c:v>
                </c:pt>
                <c:pt idx="1">
                  <c:v>82.1</c:v>
                </c:pt>
                <c:pt idx="2">
                  <c:v>79.4</c:v>
                </c:pt>
                <c:pt idx="3">
                  <c:v>17.1</c:v>
                </c:pt>
                <c:pt idx="4">
                  <c:v>20.9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640080"/>
            <a:ext cx="2468880" cy="914400"/>
          </a:xfrm>
          <a:prstGeom prst="round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1828800"/>
            <a:ext cx="1737360" cy="1737360"/>
          </a:xfrm>
          <a:prstGeom prst="roundRect">
            <a:avLst/>
          </a:prstGeom>
          <a:solidFill>
            <a:srgbClr val="64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3840480"/>
            <a:ext cx="3108960" cy="1005840"/>
          </a:xfrm>
          <a:prstGeom prst="roundRect">
            <a:avLst/>
          </a:prstGeom>
          <a:solidFill>
            <a:srgbClr val="D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84080" y="5074920"/>
            <a:ext cx="1554480" cy="640080"/>
          </a:xfrm>
          <a:prstGeom prst="round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6858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B1DADC"/>
                </a:solidFill>
                <a:latin typeface="Aptos"/>
              </a:defRPr>
            </a:pPr>
            <a:r>
              <a:t>PRESENTACIÓN EJECUTIVA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58952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Segmentación de clientes</a:t>
            </a:r>
          </a:p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con aprendizaje no supervisado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7132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E0EAF0"/>
                </a:solidFill>
                <a:latin typeface="Aptos"/>
              </a:defRPr>
            </a:pPr>
            <a:r>
              <a:t>Caso práctico: Mall_Customers.csv | Algoritmo K-Means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69494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De los patrones de comportamiento a las decisiones comerciales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B1DADC"/>
                </a:solidFill>
                <a:latin typeface="Aptos"/>
              </a:defRPr>
            </a:pPr>
            <a:r>
              <a:t>200 clientes · 5 segmentos reportados · Enfoque orientado a la acción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La segmentación convierte datos de clientes en hipótesis de acción comercial.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606040" cy="160020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1600200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92224"/>
            <a:ext cx="22585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246B7A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9152"/>
            <a:ext cx="2258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Clientes analizados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97480"/>
            <a:ext cx="225856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Base pequeña y manejable para una demostración práctica.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606040" cy="160020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645920"/>
            <a:ext cx="64008" cy="1600200"/>
          </a:xfrm>
          <a:prstGeom prst="rect">
            <a:avLst/>
          </a:prstGeom>
          <a:solidFill>
            <a:srgbClr val="64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792224"/>
            <a:ext cx="22585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648CC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59152"/>
            <a:ext cx="2258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Segmentos reportados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697480"/>
            <a:ext cx="225856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Cinco perfiles con combinaciones distintas de ingreso y gasto.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2606040" cy="160020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64008" cy="1600200"/>
          </a:xfrm>
          <a:prstGeom prst="rect">
            <a:avLst/>
          </a:prstGeom>
          <a:solidFill>
            <a:srgbClr val="D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792224"/>
            <a:ext cx="225856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D59A55"/>
                </a:solidFill>
                <a:latin typeface="Aptos"/>
              </a:defRPr>
            </a:pPr>
            <a:r>
              <a:t>40,5%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59152"/>
            <a:ext cx="2258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Mayor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697480"/>
            <a:ext cx="225856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Gasto moderado: concentra el 40,5% de los clientes.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645920"/>
            <a:ext cx="2514600" cy="160020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645920"/>
            <a:ext cx="64008" cy="160020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1792224"/>
            <a:ext cx="216712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500" b="1">
                <a:solidFill>
                  <a:srgbClr val="2E7D57"/>
                </a:solidFill>
                <a:latin typeface="Aptos"/>
              </a:defRPr>
            </a:pPr>
            <a:r>
              <a:t>0,555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359152"/>
            <a:ext cx="2167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Separación reportada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697480"/>
            <a:ext cx="216712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Silhouette informado en el análisis previo; requiere reproducibilidad.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Mensaje clave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200" b="0">
                <a:solidFill>
                  <a:srgbClr val="263238"/>
                </a:solidFill>
                <a:latin typeface="Aptos"/>
              </a:defRPr>
            </a:pPr>
            <a:r>
              <a:t>El ingreso anual no explica por sí solo la puntuación de gasto. La oportunidad está en tratar de forma distinta a clientes con perfiles diferentes y medir si las acciones generan margen incremental.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Datos y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Variables seleccionadas para el ejercicio de clustering.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155448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1554480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4864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Variables del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4864608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Annual Income (k$)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Spending Score (1–100)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CustomerID se excluye: es un identificador, no una medida de comportamiento.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12080" cy="155448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64008" cy="1554480"/>
          </a:xfrm>
          <a:prstGeom prst="rect">
            <a:avLst/>
          </a:prstGeom>
          <a:solidFill>
            <a:srgbClr val="64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10512"/>
            <a:ext cx="4864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Proceso analítico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12848"/>
            <a:ext cx="4864608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1. Revisar la calidad de los datos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2. Estandarizar variables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3. Aplicar K-Means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4. Comparar soluciones y perfilar grupos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Precaución metodológica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51560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263238"/>
                </a:solidFill>
                <a:latin typeface="Aptos"/>
              </a:defRPr>
            </a:pPr>
            <a:r>
              <a:t>Los valores de los clústeres y el silhouette incluidos aquí corresponden a los resultados reportados previamente en la conversación. Antes de tomar decisiones operativas, se deben reproducir desde el CSV y registrar la configuración exacta del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Los cinco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Tamaño de los grupos y perfil promedio reportado.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00200"/>
          <a:ext cx="5577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69164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Lectura rápida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663440" cy="3291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• S1 es el grupo más numeroso: 81 clientes (40,5%).</a:t>
            </a: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• S2 combina ingreso alto y gasto alto: 39 clientes (19,5%).</a:t>
            </a: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• S4 presenta ingreso alto y gasto bajo: 35 clientes (17,5%); es una hipótesis de activación que debe validarse.</a:t>
            </a: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• S3 y S5 muestran por qué conviene diferenciar clientes de ingresos similares según su gasto.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Mapa de perfiles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Ingreso anual medio frente a puntuación media de gasto.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600200"/>
          <a:ext cx="6400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7373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Hallazgo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194560"/>
            <a:ext cx="3840480" cy="2560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Dos contrastes relevantes:</a:t>
            </a: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• S2: ingreso y gasto altos.</a:t>
            </a: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• S4: ingreso alto, pero puntuación de gasto baja.</a:t>
            </a: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</a:p>
          <a:p>
            <a:pPr algn="l">
              <a:defRPr sz="1500" b="0">
                <a:solidFill>
                  <a:srgbClr val="263238"/>
                </a:solidFill>
                <a:latin typeface="Aptos"/>
              </a:defRPr>
            </a:pPr>
            <a:r>
              <a:t>La puntuación es un indicador asignado, no ventas monetarias ni rentabilidad.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De segmentos a acciones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Las acciones son hipótesis que deben probarse con pilotos y grupos de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0835640" cy="749808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749808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1325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6324F"/>
                </a:solidFill>
                <a:latin typeface="Aptos"/>
              </a:defRPr>
            </a:pPr>
            <a:r>
              <a:t>S1 · 40,5%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69164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63238"/>
                </a:solidFill>
                <a:latin typeface="Aptos"/>
              </a:defRPr>
            </a:pPr>
            <a:r>
              <a:t>Fidelización y productos complementarios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691640"/>
            <a:ext cx="4251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54656F"/>
                </a:solidFill>
                <a:latin typeface="Aptos"/>
              </a:defRPr>
            </a:pPr>
            <a:r>
              <a:t>Recompra, frecuencia, margen incremental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96312"/>
            <a:ext cx="10835640" cy="749808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96312"/>
            <a:ext cx="73152" cy="749808"/>
          </a:xfrm>
          <a:prstGeom prst="rect">
            <a:avLst/>
          </a:prstGeom>
          <a:solidFill>
            <a:srgbClr val="648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606040"/>
            <a:ext cx="1325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6324F"/>
                </a:solidFill>
                <a:latin typeface="Aptos"/>
              </a:defRPr>
            </a:pPr>
            <a:r>
              <a:t>S2 · 19,5%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587752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63238"/>
                </a:solidFill>
                <a:latin typeface="Aptos"/>
              </a:defRPr>
            </a:pPr>
            <a:r>
              <a:t>Retención y beneficios exclusivos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587752"/>
            <a:ext cx="4251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54656F"/>
                </a:solidFill>
                <a:latin typeface="Aptos"/>
              </a:defRPr>
            </a:pPr>
            <a:r>
              <a:t>Retención, valor de compra, margen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10835640" cy="749808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92424"/>
            <a:ext cx="73152" cy="749808"/>
          </a:xfrm>
          <a:prstGeom prst="rect">
            <a:avLst/>
          </a:prstGeom>
          <a:solidFill>
            <a:srgbClr val="D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502152"/>
            <a:ext cx="1325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6324F"/>
                </a:solidFill>
                <a:latin typeface="Aptos"/>
              </a:defRPr>
            </a:pPr>
            <a:r>
              <a:t>S3 · 11,0%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483864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63238"/>
                </a:solidFill>
                <a:latin typeface="Aptos"/>
              </a:defRPr>
            </a:pPr>
            <a:r>
              <a:t>Paquetes accesibles y campañas digitales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483864"/>
            <a:ext cx="4251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54656F"/>
                </a:solidFill>
                <a:latin typeface="Aptos"/>
              </a:defRPr>
            </a:pPr>
            <a:r>
              <a:t>Conversión, recompra, margen tras descuentos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88536"/>
            <a:ext cx="10835640" cy="749808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288536"/>
            <a:ext cx="73152" cy="749808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325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6324F"/>
                </a:solidFill>
                <a:latin typeface="Aptos"/>
              </a:defRPr>
            </a:pPr>
            <a:r>
              <a:t>S4 · 17,5%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379975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63238"/>
                </a:solidFill>
                <a:latin typeface="Aptos"/>
              </a:defRPr>
            </a:pPr>
            <a:r>
              <a:t>Investigar barreras y probar ofertas personalizadas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79975"/>
            <a:ext cx="4251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54656F"/>
                </a:solidFill>
                <a:latin typeface="Aptos"/>
              </a:defRPr>
            </a:pPr>
            <a:r>
              <a:t>Respuesta incremental y coste de activación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84648"/>
            <a:ext cx="10835640" cy="749808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5184648"/>
            <a:ext cx="73152" cy="749808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94376"/>
            <a:ext cx="1325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16324F"/>
                </a:solidFill>
                <a:latin typeface="Aptos"/>
              </a:defRPr>
            </a:pPr>
            <a:r>
              <a:t>S5 · 11,5%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276088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200" b="1">
                <a:solidFill>
                  <a:srgbClr val="263238"/>
                </a:solidFill>
                <a:latin typeface="Aptos"/>
              </a:defRPr>
            </a:pPr>
            <a:r>
              <a:t>Propuesta económica y promociones relevantes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276088"/>
            <a:ext cx="4251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54656F"/>
                </a:solidFill>
                <a:latin typeface="Aptos"/>
              </a:defRPr>
            </a:pPr>
            <a:r>
              <a:t>Conversión, coste por compra y margen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17220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246B7A"/>
                </a:solidFill>
                <a:latin typeface="Aptos"/>
              </a:defRPr>
            </a:pPr>
            <a:r>
              <a:t>Cada piloto debe compararse con un grupo de control para estimar el efecto incremental.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Prioridades recomendadas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Orden de ejecución sugerido para aprender rápido y controlar costes.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94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246B7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9164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Retención del segmento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6492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ptos"/>
              </a:defRPr>
            </a:pPr>
            <a:r>
              <a:t>Probar beneficios diferenciados y medir retención y margen frente a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94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246B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4320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Activación del segmento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6492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ptos"/>
              </a:defRPr>
            </a:pPr>
            <a:r>
              <a:t>Investigar barreras; pilotar ofertas antes de escalar inversión.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594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246B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947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Fidelización del segmento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6492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ptos"/>
              </a:defRPr>
            </a:pPr>
            <a:r>
              <a:t>Buscar mayor frecuencia y recompra sin erosionar el margen.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94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300" b="1">
                <a:solidFill>
                  <a:srgbClr val="246B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84632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Pruebas para segmentos 3 y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46320"/>
            <a:ext cx="6492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>
                <a:solidFill>
                  <a:srgbClr val="263238"/>
                </a:solidFill>
                <a:latin typeface="Aptos"/>
              </a:defRPr>
            </a:pPr>
            <a:r>
              <a:t>Comparar propuestas de valor y promociones con límites de descuento.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2E7D57"/>
                </a:solidFill>
                <a:latin typeface="Aptos"/>
              </a:defRPr>
            </a:pPr>
            <a:r>
              <a:t>Criterio de éxito: mejorar conversión, recompra o retención con margen incremental positivo.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600" b="1">
                <a:solidFill>
                  <a:srgbClr val="16324F"/>
                </a:solidFill>
                <a:latin typeface="Aptos"/>
              </a:defRPr>
            </a:pPr>
            <a:r>
              <a:t>Limitaciones y controles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0">
                <a:solidFill>
                  <a:srgbClr val="54656F"/>
                </a:solidFill>
                <a:latin typeface="Aptos"/>
              </a:defRPr>
            </a:pPr>
            <a:r>
              <a:t>Qué se puede concluir y qué debe validarse antes de operar.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54656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7772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800" b="0">
                <a:solidFill>
                  <a:srgbClr val="54656F"/>
                </a:solidFill>
                <a:latin typeface="Aptos"/>
              </a:defRPr>
            </a:pPr>
            <a:r>
              <a:t>SEGMENTACIÓN DE CLIENTES · 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160020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64008" cy="1600200"/>
          </a:xfrm>
          <a:prstGeom prst="rect">
            <a:avLst/>
          </a:prstGeom>
          <a:solidFill>
            <a:srgbClr val="24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4864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Qué aporta el análisis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4864608" cy="9052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Perfiles descriptivos fáciles de interpretar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Hipótesis para personalizar campañas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Base para una práctica de aprendizaje no supervisado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12080" cy="1600200"/>
          </a:xfrm>
          <a:prstGeom prst="roundRect">
            <a:avLst/>
          </a:prstGeom>
          <a:solidFill>
            <a:srgbClr val="F3F7F9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64008" cy="1600200"/>
          </a:xfrm>
          <a:prstGeom prst="rect">
            <a:avLst/>
          </a:prstGeom>
          <a:solidFill>
            <a:srgbClr val="D59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10512"/>
            <a:ext cx="48646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Qué no demuestra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12848"/>
            <a:ext cx="4864608" cy="9052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No contiene ventas, costes ni márgenes reales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No prueba causalidad ni respuesta futura</a:t>
            </a:r>
          </a:p>
          <a:p>
            <a:pPr algn="l">
              <a:defRPr sz="1050" b="0">
                <a:solidFill>
                  <a:srgbClr val="263238"/>
                </a:solidFill>
                <a:latin typeface="Aptos"/>
              </a:defRPr>
            </a:pPr>
            <a:r>
              <a:t>• No valida rentabilidad de las acciones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Controles antes de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1042416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263238"/>
                </a:solidFill>
                <a:latin typeface="Aptos"/>
              </a:defRPr>
            </a:pPr>
            <a:r>
              <a:t>1. Reproducir el modelo desde el CSV.</a:t>
            </a:r>
          </a:p>
          <a:p>
            <a:pPr algn="l">
              <a:defRPr sz="1600" b="0">
                <a:solidFill>
                  <a:srgbClr val="263238"/>
                </a:solidFill>
                <a:latin typeface="Aptos"/>
              </a:defRPr>
            </a:pPr>
            <a:r>
              <a:t>2. Comparar distintos valores de k y semillas.</a:t>
            </a:r>
          </a:p>
          <a:p>
            <a:pPr algn="l">
              <a:defRPr sz="1600" b="0">
                <a:solidFill>
                  <a:srgbClr val="263238"/>
                </a:solidFill>
                <a:latin typeface="Aptos"/>
              </a:defRPr>
            </a:pPr>
            <a:r>
              <a:t>3. Revisar estabilidad y valores atípicos.</a:t>
            </a:r>
          </a:p>
          <a:p>
            <a:pPr algn="l">
              <a:defRPr sz="1600" b="0">
                <a:solidFill>
                  <a:srgbClr val="263238"/>
                </a:solidFill>
                <a:latin typeface="Aptos"/>
              </a:defRPr>
            </a:pPr>
            <a:r>
              <a:t>4. Probar campañas con grupos de control.</a:t>
            </a:r>
          </a:p>
          <a:p>
            <a:pPr algn="l">
              <a:defRPr sz="1600" b="0">
                <a:solidFill>
                  <a:srgbClr val="263238"/>
                </a:solidFill>
                <a:latin typeface="Aptos"/>
              </a:defRPr>
            </a:pPr>
            <a:r>
              <a:t>5. Medir conversión, retención y margen incremental.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1">
                <a:solidFill>
                  <a:srgbClr val="B1DADC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987552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Segmentar no es el final.</a:t>
            </a:r>
          </a:p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Es el comienzo de mejores decisiones.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87552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0">
                <a:solidFill>
                  <a:srgbClr val="E0EAF0"/>
                </a:solidFill>
                <a:latin typeface="Aptos"/>
              </a:defRPr>
            </a:pPr>
            <a:r>
              <a:t>La oportunidad está en convertir perfiles de clientes en acciones diferenciadas, probarlas con rigor y escalar solo aquellas que generen valor incremental.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100" b="1">
                <a:solidFill>
                  <a:srgbClr val="B1DADC"/>
                </a:solidFill>
                <a:latin typeface="Aptos"/>
              </a:defRPr>
            </a:pPr>
            <a:r>
              <a:t>Base: Mall_Customers.csv · 200 registros · 5 segmentos reportados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900" b="1">
                <a:solidFill>
                  <a:srgbClr val="E0EAF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