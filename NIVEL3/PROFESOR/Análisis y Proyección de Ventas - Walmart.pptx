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  <ns0:embeddedFont>
      <ns0:font typeface="Space Grotesk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0fadfa5f-c484-4d53-a51d-c2d1cc782666.fntdata" /><ns0:Relationship Id="rIdFont21" Type="http://schemas.openxmlformats.org/officeDocument/2006/relationships/font" Target="fonts/a8c1c1d9-a84c-4e9b-8e6d-e44974bba007.fntdata" /><ns0:Relationship Id="rIdFont22" Type="http://schemas.openxmlformats.org/officeDocument/2006/relationships/font" Target="fonts/a95ed6f9-92f8-4166-aa88-2b8234ec57d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69023"/>
            <a:ext cx="133350" cy="15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569023"/>
            <a:ext cx="17145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131814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INFORME EJECUTIVO DE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84239"/>
            <a:ext cx="8601075" cy="1089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Análisis Histórico y Proyección de Ventas: Walmart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802260"/>
            <a:ext cx="6191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Evaluación de estacionalidad, tendencia macroeconómica y modelos predictivos a 3 meses (2012-2013).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564260"/>
            <a:ext cx="209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Febrero 2010 – Enero 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8500" y="4564260"/>
            <a:ext cx="2190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45 Sucursales Consolidadas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7525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57525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57525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337185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3371850"/>
            <a:ext cx="2000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3371850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PANORAMA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Métricas Consolidadas del Histórico (2010 - 2012)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356" y="3752850"/>
            <a:ext cx="3595687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850" i="0" u="none">
                <a:solidFill>
                  <a:srgbClr val="0F172A"/>
                </a:solidFill>
                <a:latin typeface="Inter"/>
              </a:rPr>
              <a:t>$1.05M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356" y="4229100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Promedio semanal por tienda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8156" y="3752850"/>
            <a:ext cx="3595687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850" i="0" u="none">
                <a:solidFill>
                  <a:srgbClr val="0F172A"/>
                </a:solidFill>
                <a:latin typeface="Inter"/>
              </a:rPr>
              <a:t>$6.73B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8156" y="4229100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Ventas totales acumuladas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1956" y="3752850"/>
            <a:ext cx="3595687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850" i="0" u="none">
                <a:solidFill>
                  <a:srgbClr val="0284C7"/>
                </a:solidFill>
                <a:latin typeface="Inter"/>
              </a:rPr>
              <a:t>$3.82M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1956" y="4229100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Venta pico registrada (Tienda)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47925"/>
            <a:ext cx="5314950" cy="809625"/>
          </a:xfrm>
          <a:prstGeom prst="roundRect">
            <a:avLst>
              <a:gd name="adj" fmla="val 941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48050"/>
            <a:ext cx="5314950" cy="809625"/>
          </a:xfrm>
          <a:prstGeom prst="roundRect">
            <a:avLst>
              <a:gd name="adj" fmla="val 941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48175"/>
            <a:ext cx="5314950" cy="809625"/>
          </a:xfrm>
          <a:prstGeom prst="roundRect">
            <a:avLst>
              <a:gd name="adj" fmla="val 941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2328862"/>
            <a:ext cx="5314950" cy="30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ALCANCE TEMPORAL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Período del Dataset y Entorno Analizado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638425"/>
            <a:ext cx="64758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Inicio del Registro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876550"/>
            <a:ext cx="6167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5 de Febrero de 2010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638550"/>
            <a:ext cx="64758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Cierre del Registro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876675"/>
            <a:ext cx="6167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26 de Octubre de 2012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638675"/>
            <a:ext cx="64758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Cobertura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876800"/>
            <a:ext cx="6167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143 semanas consecutivas (~32 meses)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343275"/>
            <a:ext cx="3505200" cy="1095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43400" y="3343275"/>
            <a:ext cx="3505200" cy="1095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7200" y="3343275"/>
            <a:ext cx="3505200" cy="1095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343275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3343275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3343275"/>
            <a:ext cx="38100" cy="109537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PATRONES DE DEMANDA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Estacionalidad Marcada por Festividades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571875"/>
            <a:ext cx="39504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Pico Acción de Gracias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848100"/>
            <a:ext cx="310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Incremento de +40% en ventas durante la semana de Black Friday.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571875"/>
            <a:ext cx="39504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Máximo Anual Navideño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848100"/>
            <a:ext cx="310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Semanas previas a Navidad generan picos superiores a $78M globales.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571875"/>
            <a:ext cx="3848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Contracción de Enero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848100"/>
            <a:ext cx="3105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Caída estacional regular de -20% posterior al cierre de año.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72175" y="3038475"/>
            <a:ext cx="5610225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ANÁLISIS SECULAR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Tendencia de Crecimiento Sostenido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81350"/>
            <a:ext cx="6226968" cy="99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b="1" sz="7800" i="0" u="none">
                <a:solidFill>
                  <a:srgbClr val="0284C7"/>
                </a:solidFill>
                <a:latin typeface="Inter"/>
              </a:rPr>
              <a:t>+$4.2K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24350"/>
            <a:ext cx="6226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Incremento promedio semanal en la base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352800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Conclusión del Modelo de Regresión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667125"/>
            <a:ext cx="50768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 pesar de las fluctuaciones macroeconómicas en desempleo e inflación (CPI), la red de tiendas mantiene una pendiente positiva constante, garantizando un piso de ingresos sólido previo a efectos estacionales.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8500"/>
            <a:ext cx="53721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238500"/>
            <a:ext cx="53721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3514725"/>
            <a:ext cx="1190625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86525" y="3514725"/>
            <a:ext cx="1323975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RENDIMIENTO OPERATIVO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Disparidad de Ventas entre Tiendas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552825"/>
            <a:ext cx="1133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Inter"/>
              </a:rPr>
              <a:t>TOP PERFORMERS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819525"/>
            <a:ext cx="632579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Tiendas 20 y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86225"/>
            <a:ext cx="6024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Promedios semanales superiores a $2.0M.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552825"/>
            <a:ext cx="1266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Inter"/>
              </a:rPr>
              <a:t>UNDERPERFORMERS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819525"/>
            <a:ext cx="5705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Tiendas 33 y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4086225"/>
            <a:ext cx="5705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Promedios semanales inferiores a $400K.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24225"/>
            <a:ext cx="3505200" cy="1133475"/>
          </a:xfrm>
          <a:prstGeom prst="roundRect">
            <a:avLst>
              <a:gd name="adj" fmla="val 67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324225"/>
            <a:ext cx="3505200" cy="1133475"/>
          </a:xfrm>
          <a:prstGeom prst="roundRect">
            <a:avLst>
              <a:gd name="adj" fmla="val 67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324225"/>
            <a:ext cx="3505200" cy="1133475"/>
          </a:xfrm>
          <a:prstGeom prst="roundRect">
            <a:avLst>
              <a:gd name="adj" fmla="val 67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324225"/>
            <a:ext cx="35052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3324225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3324225"/>
            <a:ext cx="35052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MODELADO PREDICTIVO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Supuestos para los Próximos 3 Meses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90925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Optimista (+8%)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67150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Alta confianza del consumidor y mayor consumo en festivos.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90925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Esperado (Base)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67150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Ajuste directo por factores de estacionalidad histórica.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590925"/>
            <a:ext cx="388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Pesimista (-8%)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3867150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Impacto de presiones inflacionarias y contracción del gasto.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557462"/>
          <a:ext cx="10972799" cy="25050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201144"/>
                <a:gridCol w="2617291"/>
                <a:gridCol w="2536775"/>
                <a:gridCol w="2617589"/>
              </a:tblGrid>
              <a:tr h="41751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Semana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Pesimista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Esperado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Optimista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751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2012-11-02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Inter"/>
                        </a:rPr>
                        <a:t>$43.32M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$47.09M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Inter"/>
                        </a:rPr>
                        <a:t>$50.85M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751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2012-11-09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Inter"/>
                        </a:rPr>
                        <a:t>$43.41M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$47.19M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Inter"/>
                        </a:rPr>
                        <a:t>$50.96M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751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2012-11-16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Inter"/>
                        </a:rPr>
                        <a:t>$42.01M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$45.66M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Inter"/>
                        </a:rPr>
                        <a:t>$49.32M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751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369A1"/>
                          </a:solidFill>
                          <a:latin typeface="Inter"/>
                        </a:rPr>
                        <a:t>2012-11-23 (Pico)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$60.74M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$66.03M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$71.31M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</a:tr>
              <a:tr h="41751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2012-11-30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Inter"/>
                        </a:rPr>
                        <a:t>$45.56M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$49.52M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Inter"/>
                        </a:rPr>
                        <a:t>$53.48M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PROYECCIÓN DETALLADA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1582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Estimación por Escenario: Noviembre 2012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728912"/>
          <a:ext cx="10972798" cy="21621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624833"/>
                <a:gridCol w="2121991"/>
                <a:gridCol w="2103834"/>
                <a:gridCol w="2122140"/>
              </a:tblGrid>
              <a:tr h="3603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Semana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Pesimista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Esperado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Optimista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603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2012-12-07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$51.06M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Inter"/>
                        </a:rPr>
                        <a:t>$55.50M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$59.93M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03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2012-12-14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$55.95M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Inter"/>
                        </a:rPr>
                        <a:t>$60.81M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$65.68M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03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369A1"/>
                          </a:solidFill>
                          <a:latin typeface="Inter"/>
                        </a:rPr>
                        <a:t>2012-12-21 (Navidad)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$72.49M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Inter"/>
                        </a:rPr>
                        <a:t>$78.79M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$85.09M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</a:tr>
              <a:tr h="3603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2012-12-28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$39.65M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Inter"/>
                        </a:rPr>
                        <a:t>$43.10M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$46.54M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036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2013-01-04 a 2013-01-25 (Prom)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$38.15M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Inter"/>
                        </a:rPr>
                        <a:t>$41.47M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$44.79M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PROYECCIÓN DETALLADA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1582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Estimación por Escenario: Diciembre 2012 &amp; Enero 2013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5400"/>
            <a:ext cx="109728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VISUALIZACIÓN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1582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Curva de Ventas e Intervalo de Escenarios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95650"/>
            <a:ext cx="53721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295650"/>
            <a:ext cx="53721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PLAN DE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Recomendaciones Operativas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571875"/>
            <a:ext cx="63257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Inventario Prioritario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848100"/>
            <a:ext cx="49149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Asegurar stock en tiendas de alto volumen para el pico de $78M en diciembre.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571875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Ajuste Logístico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3848100"/>
            <a:ext cx="49149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Reducir capacidad operativa previo a la baja de demanda proyectada en enero.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162425"/>
            <a:ext cx="457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76747" y="2667000"/>
            <a:ext cx="8038504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Space Grotesk"/>
              </a:rPr>
              <a:t>¿Preguntas o Comentarios?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2250" y="3400425"/>
            <a:ext cx="6667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Análisis de ventas y modelo predictivo a disposición para ajustes de estrategia.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3937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9906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https://media.istockphoto.com/id/2209753844/photo/shopping-along-shelves-in-modern-supermarket-aisle.jpg?s=612x612&amp;w=0&amp;k=20&amp;c=5gjNqD8wF3OalwrZAS1HJJJIsQ2JDEHCDzKddV37K2I=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43025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