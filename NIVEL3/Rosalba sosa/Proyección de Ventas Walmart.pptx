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Plus Jakarta Sans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e2fa9fee-74ad-48c5-9df3-7764a93a3c84.fntdata" /><ns0:Relationship Id="rIdFont15" Type="http://schemas.openxmlformats.org/officeDocument/2006/relationships/font" Target="fonts/fac7f063-d36b-4347-b3cf-ea21f25acfb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67484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45059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564159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Proyección de Ventas Walmart (2012-2013)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55690"/>
            <a:ext cx="6762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Modelado estacional, tendencia histórica y escenarios de demanda a 3 meses.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159347"/>
            <a:ext cx="4572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ANÁLISIS FINANCIERO Y PROYECCIONES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86050"/>
            <a:ext cx="3454449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686050"/>
            <a:ext cx="3454449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686050"/>
            <a:ext cx="3454449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00" y="3038475"/>
            <a:ext cx="3429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3038475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9999" y="3038475"/>
            <a:ext cx="1905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Panorama 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381000" y="6153150"/>
            <a:ext cx="12954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Base de datos histórica consolidada de tiendas Walmart en EE.UU.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Fundamentos del Conjunto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325" y="3495675"/>
            <a:ext cx="3436999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25" y="4152900"/>
            <a:ext cx="34369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Tiendas analizadas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7574" y="3495675"/>
            <a:ext cx="3436999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7574" y="4152900"/>
            <a:ext cx="34369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Meses históricos (2010-2012)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6824" y="3495675"/>
            <a:ext cx="3436999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\$1.05M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6824" y="4152900"/>
            <a:ext cx="34369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Venta semanal promedio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81287"/>
            <a:ext cx="3505200" cy="2028825"/>
          </a:xfrm>
          <a:prstGeom prst="roundRect">
            <a:avLst>
              <a:gd name="adj" fmla="val 75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81287"/>
            <a:ext cx="3505200" cy="2028825"/>
          </a:xfrm>
          <a:prstGeom prst="roundRect">
            <a:avLst>
              <a:gd name="adj" fmla="val 75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81287"/>
            <a:ext cx="3505200" cy="2028825"/>
          </a:xfrm>
          <a:prstGeom prst="roundRect">
            <a:avLst>
              <a:gd name="adj" fmla="val 75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8608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98608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98608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62" y="3119437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075" y="3119437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4875" y="3119437"/>
            <a:ext cx="17145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Patrones Temporales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5315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Los factores estacionales muestran consistencia interanual en el comportamiento del consumidor minorista.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Análisis de Estacionalidad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33787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Pico Diciembre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48112"/>
            <a:ext cx="2990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Índice estacional de 1.40 impulsado por compras decembrinas.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633787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Noviembre Sólido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3948112"/>
            <a:ext cx="2990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Índice de 1.01 reflejando el inicio de temporada comercial fuerte.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3633787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Contracción Enero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0" y="3948112"/>
            <a:ext cx="2990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Índice de 0.81 por menor consumo posterior a festividades.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10916"/>
            <a:ext cx="5334000" cy="1769566"/>
          </a:xfrm>
          <a:prstGeom prst="roundRect">
            <a:avLst>
              <a:gd name="adj" fmla="val 861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10916"/>
            <a:ext cx="5334000" cy="1769566"/>
          </a:xfrm>
          <a:prstGeom prst="roundRect">
            <a:avLst>
              <a:gd name="adj" fmla="val 861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15315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Los supuestos incorporan fluctuaciones macroeconómicas y variabilidad estacional esperada.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Cálculo de Tendencia y Supuestos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153816"/>
            <a:ext cx="61007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Regresión Lineal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506241"/>
            <a:ext cx="47434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Se ajustó un modelo de tendencia sobre los totales mensuales históricos para capturar la trayectoria estructural a largo plazo de las ventas.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3153816"/>
            <a:ext cx="56007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Escenarios de Riesgo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300" y="3506241"/>
            <a:ext cx="47434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Se proyecta un escenario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Esperado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ponderando tendencia y estacionalidad, junto con variaciones del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±8%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para optimismo y contracción.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0337"/>
            <a:ext cx="10972800" cy="1990725"/>
          </a:xfrm>
          <a:prstGeom prst="roundRect">
            <a:avLst>
              <a:gd name="adj" fmla="val 5741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9125" y="2709862"/>
          <a:ext cx="10953748" cy="19716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71935"/>
                <a:gridCol w="2406253"/>
                <a:gridCol w="1796950"/>
                <a:gridCol w="2562522"/>
                <a:gridCol w="2516088"/>
              </a:tblGrid>
              <a:tr h="49291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Tendencia Base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Esperado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Optimista (+8%)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Pesimista (-8%)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9291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Nov 2012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\$206.7M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\$207.8M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\$224.5M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\$191.2M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291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Dic 2012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\$206.8M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\$290.3M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\$313.5M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\$267.1M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2921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Ene 2013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\$207.0M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\$167.4M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\$180.8M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\$154.0M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Resultados Numéricos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15315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Valores expresados en millones de dólares americanos para el consolidado de tiendas.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Proyección a 3 Meses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38250"/>
            <a:ext cx="10972800" cy="4914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0" y="1695450"/>
            <a:ext cx="66675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Visualización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381000" y="6153150"/>
            <a:ext cx="12954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Comportamiento histórico y bandas de proyección para el cierre de periodo.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Gráfico de Escenarios Futuros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31652"/>
            <a:ext cx="609600" cy="609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84052"/>
            <a:ext cx="3048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83073" y="2869852"/>
            <a:ext cx="6825853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FFFFFF"/>
                </a:solidFill>
                <a:latin typeface="Plus Jakarta Sans"/>
              </a:rPr>
              <a:t>Conclusiones Estratégicas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3527077"/>
            <a:ext cx="8334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El pico de diciembre representa la oportunidad comercial más crítica del trimestre. Las bandas de escenario permiten mitigar riesgos operativos ante posibles desviaciones en la demanda.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4654748"/>
            <a:ext cx="228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FIN DE LA PRESENTACIÓN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