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78DCD2"/>
                </a:solidFill>
                <a:latin typeface="Aptos"/>
              </a:defRPr>
            </a:pPr>
            <a:r>
              <a:t>PRESENTACIÓN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4241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Segmentación de clientes</a:t>
            </a:r>
            <a:br/>
            <a:r>
              <a:t>con aprendizaje no supervisado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0">
                <a:solidFill>
                  <a:srgbClr val="D7E1EB"/>
                </a:solidFill>
                <a:latin typeface="Aptos"/>
              </a:defRPr>
            </a:pPr>
            <a:r>
              <a:t>Mall_Customers.csv · Modelo K-Means · 5 segmentos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9601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Del patrón de datos a decisiones comerciales diferenciadas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6364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B4C6D4"/>
                </a:solidFill>
                <a:latin typeface="Aptos"/>
              </a:defRPr>
            </a:pPr>
            <a:r>
              <a:t>Base analizada: 200 clientes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324F"/>
                </a:solidFill>
                <a:latin typeface="Aptos"/>
              </a:defRPr>
            </a:pPr>
            <a: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5F7080"/>
                </a:solidFill>
                <a:latin typeface="Aptos"/>
              </a:defRPr>
            </a:pPr>
            <a:r>
              <a:t>Qué aprendimos y qué significa para el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1440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70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56032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28216"/>
            <a:ext cx="2231136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5F7080"/>
                </a:solidFill>
                <a:latin typeface="Aptos"/>
              </a:defRPr>
            </a:pPr>
            <a:r>
              <a:t>CLIENTES ANALIZADOS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84832"/>
            <a:ext cx="223113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1C918C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06040"/>
            <a:ext cx="2231136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7080"/>
                </a:solidFill>
                <a:latin typeface="Aptos"/>
              </a:defRPr>
            </a:pPr>
            <a:r>
              <a:t>Base sin valores faltantes ni filas duplicadas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00200"/>
            <a:ext cx="256032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728216"/>
            <a:ext cx="2231136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5F7080"/>
                </a:solidFill>
                <a:latin typeface="Aptos"/>
              </a:defRPr>
            </a:pPr>
            <a:r>
              <a:t>SEGMENTOS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84832"/>
            <a:ext cx="223113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245B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606040"/>
            <a:ext cx="2231136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7080"/>
                </a:solidFill>
                <a:latin typeface="Aptos"/>
              </a:defRPr>
            </a:pPr>
            <a:r>
              <a:t>Agrupados por ingreso y puntuación de gasto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00200"/>
            <a:ext cx="256032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728216"/>
            <a:ext cx="2231136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5F7080"/>
                </a:solidFill>
                <a:latin typeface="Aptos"/>
              </a:defRPr>
            </a:pPr>
            <a:r>
              <a:t>SILHOUETTE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084832"/>
            <a:ext cx="223113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E8B037"/>
                </a:solidFill>
                <a:latin typeface="Aptos"/>
              </a:defRPr>
            </a:pPr>
            <a:r>
              <a:t>0,555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606040"/>
            <a:ext cx="2231136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7080"/>
                </a:solidFill>
                <a:latin typeface="Aptos"/>
              </a:defRPr>
            </a:pPr>
            <a:r>
              <a:t>Separación razonable; no perfecta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600200"/>
            <a:ext cx="256032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1728216"/>
            <a:ext cx="2231136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5F7080"/>
                </a:solidFill>
                <a:latin typeface="Aptos"/>
              </a:defRPr>
            </a:pPr>
            <a:r>
              <a:t>GRUPO MAYOR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084832"/>
            <a:ext cx="223113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800" b="1">
                <a:solidFill>
                  <a:srgbClr val="59A14F"/>
                </a:solidFill>
                <a:latin typeface="Aptos"/>
              </a:defRPr>
            </a:pPr>
            <a:r>
              <a:t>40,5%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606040"/>
            <a:ext cx="2231136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7080"/>
                </a:solidFill>
                <a:latin typeface="Aptos"/>
              </a:defRPr>
            </a:pPr>
            <a:r>
              <a:t>Clientes con ingreso y gasto medios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1069848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4303A"/>
                </a:solidFill>
                <a:latin typeface="Aptos"/>
              </a:defRPr>
            </a:pPr>
            <a:r>
              <a:t>La base muestra perfiles distintos de gasto incluso entre clientes con ingresos similares.</a:t>
            </a:r>
          </a:p>
          <a:p>
            <a:pPr>
              <a:spcAft>
                <a:spcPts val="900"/>
              </a:spcAft>
              <a:defRPr sz="1700">
                <a:solidFill>
                  <a:srgbClr val="24303A"/>
                </a:solidFill>
                <a:latin typeface="Aptos"/>
              </a:defRPr>
            </a:pPr>
            <a:r>
              <a:t>Oportunidades principales: fidelizar clientes de alto gasto e investigar a los de alto ingreso y bajo gasto.</a:t>
            </a:r>
          </a:p>
          <a:p>
            <a:pPr>
              <a:spcAft>
                <a:spcPts val="900"/>
              </a:spcAft>
              <a:defRPr sz="1700">
                <a:solidFill>
                  <a:srgbClr val="24303A"/>
                </a:solidFill>
                <a:latin typeface="Aptos"/>
              </a:defRPr>
            </a:pPr>
            <a:r>
              <a:t>La segmentación orienta hipótesis comerciales; las campañas deben validarse con métricas y pruebas.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324F"/>
                </a:solidFill>
                <a:latin typeface="Aptos"/>
              </a:defRPr>
            </a:pPr>
            <a:r>
              <a:t>Datos y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5F7080"/>
                </a:solidFill>
                <a:latin typeface="Aptos"/>
              </a:defRPr>
            </a:pPr>
            <a:r>
              <a:t>Variables seleccionadas y criterios del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1440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70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245B78"/>
                </a:solidFill>
                <a:latin typeface="Aptos"/>
              </a:defRPr>
            </a:pPr>
            <a:r>
              <a:t>VARIABLES UTILIZADAS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2920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t>Ingreso anual (k$): nivel de ingreso registrado.</a:t>
            </a:r>
          </a:p>
          <a:p>
            <a:pPr>
              <a:spcAft>
                <a:spcPts val="9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t>Spending Score (1–100): puntuación de gasto asignada por el centro comercial.</a:t>
            </a:r>
          </a:p>
          <a:p>
            <a:pPr>
              <a:spcAft>
                <a:spcPts val="9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t>Se excluyeron CustomerID y Gender del entrenamiento; Age se reservó para caracterización.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4846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245B78"/>
                </a:solidFill>
                <a:latin typeface="Aptos"/>
              </a:defRPr>
            </a:pPr>
            <a:r>
              <a:t>PROCESO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5029200" cy="2834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t>Estandarización de variables.</a:t>
            </a:r>
          </a:p>
          <a:p>
            <a:pPr>
              <a:spcAft>
                <a:spcPts val="9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t>Comparación de K=2 a K=8 mediante silhouette.</a:t>
            </a:r>
          </a:p>
          <a:p>
            <a:pPr>
              <a:spcAft>
                <a:spcPts val="9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t>K-Means con K=5, random_state=42 y n_init=20.</a:t>
            </a:r>
          </a:p>
          <a:p>
            <a:pPr>
              <a:spcAft>
                <a:spcPts val="9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t>Interpretación posterior de los grupos por sus promedios.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106984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C918C"/>
                </a:solidFill>
                <a:latin typeface="Aptos"/>
              </a:defRPr>
            </a:pPr>
            <a:r>
              <a:t>Lectura: silhouette = 0,555 sugiere una estructura útil para explorar, no una clasificación definitiva.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324F"/>
                </a:solidFill>
                <a:latin typeface="Aptos"/>
              </a:defRPr>
            </a:pPr>
            <a:r>
              <a:t>Los cinco segmentos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5F7080"/>
                </a:solidFill>
                <a:latin typeface="Aptos"/>
              </a:defRPr>
            </a:pPr>
            <a:r>
              <a:t>Cada punto representa un cliente; los colores muestran los grupos encontrados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1440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7080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6" name="Picture 5" descr="segmentacion_presen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7315200" cy="43361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691640"/>
            <a:ext cx="32918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400">
                <a:solidFill>
                  <a:srgbClr val="24303A"/>
                </a:solidFill>
                <a:latin typeface="Aptos"/>
              </a:defRPr>
            </a:pPr>
            <a:r>
              <a:t>Ingreso bajo · gasto bajo</a:t>
            </a:r>
          </a:p>
          <a:p>
            <a:pPr>
              <a:spcAft>
                <a:spcPts val="1500"/>
              </a:spcAft>
              <a:defRPr sz="1400">
                <a:solidFill>
                  <a:srgbClr val="24303A"/>
                </a:solidFill>
                <a:latin typeface="Aptos"/>
              </a:defRPr>
            </a:pPr>
            <a:r>
              <a:t>Ingreso bajo · gasto alto</a:t>
            </a:r>
          </a:p>
          <a:p>
            <a:pPr>
              <a:spcAft>
                <a:spcPts val="1500"/>
              </a:spcAft>
              <a:defRPr sz="1400">
                <a:solidFill>
                  <a:srgbClr val="24303A"/>
                </a:solidFill>
                <a:latin typeface="Aptos"/>
              </a:defRPr>
            </a:pPr>
            <a:r>
              <a:t>Ingreso y gasto medios</a:t>
            </a:r>
          </a:p>
          <a:p>
            <a:pPr>
              <a:spcAft>
                <a:spcPts val="1500"/>
              </a:spcAft>
              <a:defRPr sz="1400">
                <a:solidFill>
                  <a:srgbClr val="24303A"/>
                </a:solidFill>
                <a:latin typeface="Aptos"/>
              </a:defRPr>
            </a:pPr>
            <a:r>
              <a:t>Ingreso alto · gasto bajo</a:t>
            </a:r>
          </a:p>
          <a:p>
            <a:pPr>
              <a:spcAft>
                <a:spcPts val="1500"/>
              </a:spcAft>
              <a:defRPr sz="1400">
                <a:solidFill>
                  <a:srgbClr val="24303A"/>
                </a:solidFill>
                <a:latin typeface="Aptos"/>
              </a:defRPr>
            </a:pPr>
            <a:r>
              <a:t>Ingreso alto · gasto alto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324F"/>
                </a:solidFill>
                <a:latin typeface="Aptos"/>
              </a:defRPr>
            </a:pPr>
            <a:r>
              <a:t>Tamaño y valor de los grupos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5F7080"/>
                </a:solidFill>
                <a:latin typeface="Aptos"/>
              </a:defRPr>
            </a:pPr>
            <a:r>
              <a:t>Promedios observados en el archivo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1440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7080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002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1143000"/>
                <a:gridCol w="1097280"/>
                <a:gridCol w="1920240"/>
                <a:gridCol w="1645920"/>
                <a:gridCol w="1828800"/>
              </a:tblGrid>
              <a:tr h="701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Perfil</a:t>
                      </a:r>
                    </a:p>
                  </a:txBody>
                  <a:tcPr marL="73152" marR="54864" marT="73152" marB="54864" anchor="ctr">
                    <a:solidFill>
                      <a:srgbClr val="245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Clientes</a:t>
                      </a:r>
                    </a:p>
                  </a:txBody>
                  <a:tcPr marL="73152" marR="54864" marT="73152" marB="54864" anchor="ctr">
                    <a:solidFill>
                      <a:srgbClr val="245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%</a:t>
                      </a:r>
                    </a:p>
                  </a:txBody>
                  <a:tcPr marL="73152" marR="54864" marT="73152" marB="54864" anchor="ctr">
                    <a:solidFill>
                      <a:srgbClr val="245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Ingreso medio (k$)</a:t>
                      </a:r>
                    </a:p>
                  </a:txBody>
                  <a:tcPr marL="73152" marR="54864" marT="73152" marB="54864" anchor="ctr">
                    <a:solidFill>
                      <a:srgbClr val="245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Gasto medio</a:t>
                      </a:r>
                    </a:p>
                  </a:txBody>
                  <a:tcPr marL="73152" marR="54864" marT="73152" marB="54864" anchor="ctr">
                    <a:solidFill>
                      <a:srgbClr val="245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Edad media</a:t>
                      </a:r>
                    </a:p>
                  </a:txBody>
                  <a:tcPr marL="73152" marR="54864" marT="73152" marB="54864" anchor="ctr">
                    <a:solidFill>
                      <a:srgbClr val="245B7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Ingreso bajo · gasto bajo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11,5%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26,3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20,9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45,2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Ingreso bajo · gasto alto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11,0%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25,7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79,4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25,3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Ingreso y gasto medios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81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40,5%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55,3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49,5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42,7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Ingreso alto · gasto bajo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35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17,5%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88,2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17,1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41,1</a:t>
                      </a:r>
                    </a:p>
                  </a:txBody>
                  <a:tcPr marL="73152" marR="54864" marT="73152" marB="54864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Ingreso alto · gasto alto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39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19,5%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86,5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82,1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32,7</a:t>
                      </a:r>
                    </a:p>
                  </a:txBody>
                  <a:tcPr marL="73152" marR="54864" marT="73152" marB="54864" anchor="ctr"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F7080"/>
                </a:solidFill>
                <a:latin typeface="Aptos"/>
              </a:defRPr>
            </a:pPr>
            <a:r>
              <a:t>El grupo intermedio es el más numeroso; los grupos de alto gasto suman oportunidades de fidelización.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324F"/>
                </a:solidFill>
                <a:latin typeface="Aptos"/>
              </a:defRPr>
            </a:pPr>
            <a:r>
              <a:t>Qué hacer con cada segmento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5F7080"/>
                </a:solidFill>
                <a:latin typeface="Aptos"/>
              </a:defRPr>
            </a:pPr>
            <a:r>
              <a:t>De los perfiles a hipótesis de acción comercial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1440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70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2120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664207"/>
            <a:ext cx="48920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9C6ADE"/>
                </a:solidFill>
                <a:latin typeface="Aptos"/>
              </a:defRPr>
            </a:pPr>
            <a:r>
              <a:t>ALTO INGRESO · ALTO GASTO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938528"/>
            <a:ext cx="4892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324F"/>
                </a:solidFill>
                <a:latin typeface="Aptos"/>
              </a:defRPr>
            </a:pPr>
            <a:r>
              <a:t>39 clientes · 19,5%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212848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24303A"/>
                </a:solidFill>
                <a:latin typeface="Aptos"/>
              </a:defRPr>
            </a:pPr>
            <a:r>
              <a:t>Fidelización VIP, acceso anticipado y ofertas personalizadas.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120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664207"/>
            <a:ext cx="48920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E15759"/>
                </a:solidFill>
                <a:latin typeface="Aptos"/>
              </a:defRPr>
            </a:pPr>
            <a:r>
              <a:t>ALTO INGRESO · BAJO GASTO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1938528"/>
            <a:ext cx="4892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324F"/>
                </a:solidFill>
                <a:latin typeface="Aptos"/>
              </a:defRPr>
            </a:pPr>
            <a:r>
              <a:t>35 clientes · 17,5%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212848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24303A"/>
                </a:solidFill>
                <a:latin typeface="Aptos"/>
              </a:defRPr>
            </a:pPr>
            <a:r>
              <a:t>Investigar barreras; probar experiencias premium y campañas específicas.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54680"/>
            <a:ext cx="52120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264408"/>
            <a:ext cx="48920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9A14F"/>
                </a:solidFill>
                <a:latin typeface="Aptos"/>
              </a:defRPr>
            </a:pPr>
            <a:r>
              <a:t>INGRESO Y GASTO MEDIOS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3538728"/>
            <a:ext cx="4892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324F"/>
                </a:solidFill>
                <a:latin typeface="Aptos"/>
              </a:defRPr>
            </a:pPr>
            <a:r>
              <a:t>81 clientes · 40,5%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3813048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24303A"/>
                </a:solidFill>
                <a:latin typeface="Aptos"/>
              </a:defRPr>
            </a:pPr>
            <a:r>
              <a:t>Venta cruzada, productos complementarios e incentivos por umbral.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54680"/>
            <a:ext cx="52120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3264408"/>
            <a:ext cx="48920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F28E2B"/>
                </a:solidFill>
                <a:latin typeface="Aptos"/>
              </a:defRPr>
            </a:pPr>
            <a:r>
              <a:t>BAJO INGRESO · ALTO GASTO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538728"/>
            <a:ext cx="4892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324F"/>
                </a:solidFill>
                <a:latin typeface="Aptos"/>
              </a:defRPr>
            </a:pPr>
            <a:r>
              <a:t>22 clientes · 11,0%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13048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24303A"/>
                </a:solidFill>
                <a:latin typeface="Aptos"/>
              </a:defRPr>
            </a:pPr>
            <a:r>
              <a:t>Fomentar recurrencia y recompensas; evitar descuentos indiscriminados.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754880"/>
            <a:ext cx="52120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21024" y="4864608"/>
            <a:ext cx="48920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4E79A7"/>
                </a:solidFill>
                <a:latin typeface="Aptos"/>
              </a:defRPr>
            </a:pPr>
            <a:r>
              <a:t>BAJO INGRESO · BAJO GASTO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5138928"/>
            <a:ext cx="4892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6324F"/>
                </a:solidFill>
                <a:latin typeface="Aptos"/>
              </a:defRPr>
            </a:pPr>
            <a:r>
              <a:t>23 clientes · 11,5%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5413248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24303A"/>
                </a:solidFill>
                <a:latin typeface="Aptos"/>
              </a:defRPr>
            </a:pPr>
            <a:r>
              <a:t>Promociones económicas y paquetes accesibles con control de margen.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324F"/>
                </a:solidFill>
                <a:latin typeface="Aptos"/>
              </a:defRPr>
            </a:pPr>
            <a:r>
              <a:t>Prioridades y métricas de seguimiento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5F7080"/>
                </a:solidFill>
                <a:latin typeface="Aptos"/>
              </a:defRPr>
            </a:pPr>
            <a:r>
              <a:t>Medir impacto, no solo actividad de campaña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52728"/>
            <a:ext cx="914400" cy="54864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70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245B78"/>
                </a:solidFill>
                <a:latin typeface="Aptos"/>
              </a:defRPr>
            </a:pPr>
            <a:r>
              <a:t>PRIORIDADES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0292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1. Retener al grupo de ingreso alto y gasto alto.</a:t>
            </a:r>
          </a:p>
          <a:p>
            <a:pPr>
              <a:spcAft>
                <a:spcPts val="12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2. Investigar por qué el grupo de ingreso alto y gasto bajo gasta poco.</a:t>
            </a:r>
          </a:p>
          <a:p>
            <a:pPr>
              <a:spcAft>
                <a:spcPts val="12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3. Escalar venta cruzada al segmento intermedio.</a:t>
            </a:r>
          </a:p>
          <a:p>
            <a:pPr>
              <a:spcAft>
                <a:spcPts val="12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4. Probar incentivos de recurrencia en grupos de alto gasto.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245B78"/>
                </a:solidFill>
                <a:latin typeface="Aptos"/>
              </a:defRPr>
            </a:pPr>
            <a:r>
              <a:t>KPIs PROPUESTOS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65960"/>
            <a:ext cx="50292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Retención y recompra.</a:t>
            </a:r>
          </a:p>
          <a:p>
            <a:pPr>
              <a:spcAft>
                <a:spcPts val="12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Ticket promedio y gasto por cliente.</a:t>
            </a:r>
          </a:p>
          <a:p>
            <a:pPr>
              <a:spcAft>
                <a:spcPts val="12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Conversión de campañas.</a:t>
            </a:r>
          </a:p>
          <a:p>
            <a:pPr>
              <a:spcAft>
                <a:spcPts val="12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Margen o rentabilidad incremental frente a un grupo de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C918C"/>
                </a:solidFill>
                <a:latin typeface="Aptos"/>
              </a:defRPr>
            </a:pPr>
            <a:r>
              <a:t>Antes de invertir a escala: probar campañas pequeñas y comparar resultados con un grupo de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CONCLUSIÓN Y SIGUIENTES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78DCD2"/>
                </a:solidFill>
                <a:latin typeface="Aptos"/>
              </a:defRPr>
            </a:pPr>
            <a:r>
              <a:t>La segmentación convierte una base de 200 clientes en cinco perfiles accionables.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24128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Validar los perfiles con el equipo comercial y revisar su estabilidad.</a:t>
            </a:r>
          </a:p>
          <a:p>
            <a:pPr>
              <a:spcAft>
                <a:spcPts val="15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Probar campañas piloto y medir retención, conversión y margen incremental.</a:t>
            </a:r>
          </a:p>
          <a:p>
            <a:pPr>
              <a:spcAft>
                <a:spcPts val="15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Considerar nuevas variables en futuras iteraciones: frecuencia de visitas, historial de compras y rentabilidad.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57800"/>
            <a:ext cx="102412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D7E1EB"/>
                </a:solidFill>
                <a:latin typeface="Aptos"/>
              </a:defRPr>
            </a:pPr>
            <a:r>
              <a:t>Limitación clave: el dataset no contiene transacciones reales ni respuesta a campañas; las recomendaciones son hipótesis que requieren validación.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B4C6D4"/>
                </a:solidFill>
                <a:latin typeface="Aptos"/>
              </a:defRPr>
            </a:pPr>
            <a:r>
              <a:t>Mall_Customers.csv · K-Means (K=5) · Silhouette 0,555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