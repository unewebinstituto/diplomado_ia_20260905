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Plus Jakarta Sans"/>
      <ns0:bold ns1:id="rIdFont13"/>
      <ns0:regular ns1:id="rIdFont14"/>
    </ns0:embeddedFont>
    <ns0:embeddedFont>
      <ns0:font typeface="Space Grotesk"/>
      <ns0:bold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c54f07b9-3b6d-4516-89d2-a8dcf4ca0a61.fntdata" /><ns0:Relationship Id="rIdFont14" Type="http://schemas.openxmlformats.org/officeDocument/2006/relationships/font" Target="fonts/5d7d9a99-7db0-46fa-a0c1-fc153ae972c4.fntdata" /><ns0:Relationship Id="rIdFont15" Type="http://schemas.openxmlformats.org/officeDocument/2006/relationships/font" Target="fonts/2b62c53c-d28f-4a49-8961-d35e9297ca2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03390"/>
            <a:ext cx="10668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706909"/>
            <a:ext cx="2581275" cy="285750"/>
          </a:xfrm>
          <a:prstGeom prst="roundRect">
            <a:avLst>
              <a:gd name="adj" fmla="val 1333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50339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221259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Análisis de Ventas y Proyección Estacional Trimestral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50890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Evaluación histórica de 45 tiendas, identificación de patrones festivos y modelo de tres escenarios (Optimista, Esperado y Pesimista).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1764059"/>
            <a:ext cx="2409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WALMART SALES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7575" y="1764059"/>
            <a:ext cx="157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Feb 2010 – Ene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741515"/>
            <a:ext cx="2131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Periodo Analizado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1065"/>
            <a:ext cx="2131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143 Semanas Históricas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1775" y="4741515"/>
            <a:ext cx="157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Unidades Evaluadas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1775" y="4951065"/>
            <a:ext cx="1571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45 Tiendas Retail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3875" y="4741515"/>
            <a:ext cx="1928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Horizonte de Proyección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3875" y="4951065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Nov 2012 – Ene 2013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15025"/>
            <a:ext cx="10972800" cy="4857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47950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47950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47950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15025"/>
            <a:ext cx="3810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241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924175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924175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PANORAMA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Métricas Consolidadas de Rendimiento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6067425"/>
            <a:ext cx="11353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Desviación estándar semanal de $564K refleja alta dispersión entre tiendas y picos estacionales.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26707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Ventas Acumuladas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476625"/>
            <a:ext cx="369093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$6,737M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98145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Total ingresos en 143 semanas.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26707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Promedio Semanal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476625"/>
            <a:ext cx="369093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$1.05M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398145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Venta media por semana registrada.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26707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Semana Máxima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476625"/>
            <a:ext cx="369093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$3.82M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98145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Pico máximo en festividad navideña.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24112"/>
            <a:ext cx="5334000" cy="2714625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424112"/>
            <a:ext cx="5334000" cy="2714625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652712"/>
            <a:ext cx="1714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652712"/>
            <a:ext cx="171450" cy="152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9625" y="2938462"/>
          <a:ext cx="4933949" cy="20002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24062"/>
                <a:gridCol w="2909887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Tienda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Ventas Totales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$301.4M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$299.5M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14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$289.0M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$286.5M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$275.4M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48425" y="2938462"/>
          <a:ext cx="4933949" cy="20002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24062"/>
                <a:gridCol w="2909887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Tienda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Ventas Totales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$55.2M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36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$53.4M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$45.5M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44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$43.3M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Tienda 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$37.2M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DISTRIBUCIÓN GEOGRÁFICA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Comparativa de Unidades Relevantes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624137"/>
            <a:ext cx="6167437" cy="2000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Top 5 Tiendas Líderes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2624137"/>
            <a:ext cx="5743575" cy="2000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Top 5 Tiendas Menores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1775"/>
            <a:ext cx="6035426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826" y="2705100"/>
            <a:ext cx="4632573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9826" y="3857625"/>
            <a:ext cx="4632573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524250"/>
            <a:ext cx="5559176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981450"/>
            <a:ext cx="5559176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438650"/>
            <a:ext cx="5559176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3524250"/>
            <a:ext cx="5003155" cy="114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725" y="3981450"/>
            <a:ext cx="5559176" cy="1143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725" y="4438650"/>
            <a:ext cx="2779514" cy="1143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COMPORTAMIENTO TEMPORAL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Estacionalidad y Crecimiento Tendencial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09900"/>
            <a:ext cx="69489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Índice Estacional por Cierre de Año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9851" y="2905125"/>
            <a:ext cx="50421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Tendencia Lineal Positiva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9851" y="3162300"/>
            <a:ext cx="432777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Inclinación de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+$4,275 USD/semana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en el agregado total de tiendas.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9851" y="4057650"/>
            <a:ext cx="50421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Concentración de Festivos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851" y="4314825"/>
            <a:ext cx="432777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El 7% de las semanas concentran los picos más altos del año comercial.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333750"/>
            <a:ext cx="2667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0000"/>
                </a:solidFill>
                <a:latin typeface="Plus Jakarta Sans"/>
              </a:rPr>
              <a:t>Semana Nov 23 (Acción de Gracias)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2976" y="3333750"/>
            <a:ext cx="1209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1.43x Promedio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790950"/>
            <a:ext cx="1857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0000"/>
                </a:solidFill>
                <a:latin typeface="Plus Jakarta Sans"/>
              </a:rPr>
              <a:t>Semana Dic 21 (Navidad)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2976" y="3790950"/>
            <a:ext cx="1209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1.70x Promedio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248150"/>
            <a:ext cx="2500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0000"/>
                </a:solidFill>
                <a:latin typeface="Plus Jakarta Sans"/>
              </a:rPr>
              <a:t>Semanas de Enero (Post-Fiestas)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4401" y="4248150"/>
            <a:ext cx="1238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0.87x Promedio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6050"/>
            <a:ext cx="34988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7000" y="2676525"/>
            <a:ext cx="3517850" cy="2038350"/>
          </a:xfrm>
          <a:prstGeom prst="roundRect">
            <a:avLst>
              <a:gd name="adj" fmla="val 5607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83450" y="2686050"/>
            <a:ext cx="34988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MODELADO PROYECTIVO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Proyección Trimestral (Nov 2012 – Ene 2013)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52750"/>
            <a:ext cx="306065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91B1B"/>
                </a:solidFill>
                <a:latin typeface="Plus Jakarta Sans"/>
              </a:rPr>
              <a:t>Banda Inferior (-5%)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3700" y="2943225"/>
            <a:ext cx="3079700" cy="150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Caso Base Recomendado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0150" y="2952750"/>
            <a:ext cx="306065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Plus Jakarta Sans"/>
              </a:rPr>
              <a:t>Banda Superior (+5%)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6229350"/>
            <a:ext cx="1295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Horizonte de 13 semanas consecutivas abarcando campañas clave de Fin de Año.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238500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Escenario Pesimista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590925"/>
            <a:ext cx="36829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991B1B"/>
                </a:solidFill>
                <a:latin typeface="Plus Jakarta Sans"/>
              </a:rPr>
              <a:t>$632.6M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86225"/>
            <a:ext cx="304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Contracción del gasto navideño o inflación persistente.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2750" y="3238500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Escenario Esperado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3590925"/>
            <a:ext cx="36829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$665.9M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750" y="4086225"/>
            <a:ext cx="304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Tendencia histórica multiplicada por factores estacionales.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3238500"/>
            <a:ext cx="383232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Escenario Optimista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675" y="3590925"/>
            <a:ext cx="36829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66534"/>
                </a:solidFill>
                <a:latin typeface="Plus Jakarta Sans"/>
              </a:rPr>
              <a:t>$699.2M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9675" y="4086225"/>
            <a:ext cx="304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Campaña navideña excepcional y mayor tráfico retail.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772150"/>
            <a:ext cx="10668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890837"/>
            <a:ext cx="3352800" cy="1438275"/>
          </a:xfrm>
          <a:prstGeom prst="roundRect">
            <a:avLst>
              <a:gd name="adj" fmla="val 79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19600" y="2890837"/>
            <a:ext cx="3352800" cy="1438275"/>
          </a:xfrm>
          <a:prstGeom prst="roundRect">
            <a:avLst>
              <a:gd name="adj" fmla="val 79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890837"/>
            <a:ext cx="3352800" cy="1438275"/>
          </a:xfrm>
          <a:prstGeom prst="roundRect">
            <a:avLst>
              <a:gd name="adj" fmla="val 79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7721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119437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19437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119437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CONCLUSIONES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72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Recomendaciones Estratégicas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85750" y="6010275"/>
            <a:ext cx="12763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lus Jakarta Sans"/>
              </a:rPr>
              <a:t>¿Preguntas o comentarios sobre la proyección?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462337"/>
            <a:ext cx="3800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Gestión de Inventario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757612"/>
            <a:ext cx="2990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Asegurar stock máximo para semanas de picos críticos (Nov 23 y Dic 21).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462337"/>
            <a:ext cx="3800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Atención a Tiendas Menores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757612"/>
            <a:ext cx="2990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Optimizar logística en tiendas con ventas menores a $50M anuales.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462337"/>
            <a:ext cx="3800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Ajuste Post-Festivo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757612"/>
            <a:ext cx="2990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Ajustar pedidos para enero ante la caída estacional del 13% vs promedio.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