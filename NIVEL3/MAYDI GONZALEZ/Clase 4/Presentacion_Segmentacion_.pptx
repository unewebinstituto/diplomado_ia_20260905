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138160" y="822960"/>
            <a:ext cx="2926080" cy="2926080"/>
          </a:xfrm>
          <a:prstGeom prst="ellipse">
            <a:avLst/>
          </a:prstGeom>
          <a:noFill/>
          <a:ln w="27940">
            <a:solidFill>
              <a:srgbClr val="36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371600"/>
            <a:ext cx="2103120" cy="2103120"/>
          </a:xfrm>
          <a:prstGeom prst="ellipse">
            <a:avLst/>
          </a:prstGeom>
          <a:noFill/>
          <a:ln w="27940">
            <a:solidFill>
              <a:srgbClr val="916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1920240"/>
            <a:ext cx="1280160" cy="1280160"/>
          </a:xfrm>
          <a:prstGeom prst="ellipse">
            <a:avLst/>
          </a:prstGeom>
          <a:noFill/>
          <a:ln w="27940">
            <a:solidFill>
              <a:srgbClr val="FF42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818120" y="4480560"/>
            <a:ext cx="3474720" cy="73152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366760" y="4681728"/>
            <a:ext cx="2560320" cy="45720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749808"/>
            <a:ext cx="5303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36E0E2"/>
                </a:solidFill>
                <a:latin typeface="Aptos"/>
              </a:rPr>
              <a:t>CUSTOMER INTELLIGENCE  / 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417320"/>
            <a:ext cx="6949440" cy="1554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2F7FF"/>
                </a:solidFill>
                <a:latin typeface="Aptos Display"/>
              </a:rPr>
              <a:t>SEGMENTACIÓN
DE CLIENTES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218688"/>
            <a:ext cx="58521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A4B4CC"/>
                </a:solidFill>
                <a:latin typeface="Aptos Display"/>
              </a:rPr>
              <a:t>Del patrón al plan de acción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50208"/>
            <a:ext cx="1097280" cy="50292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920240" y="3950208"/>
            <a:ext cx="457200" cy="50292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251960"/>
            <a:ext cx="66751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7FF"/>
                </a:solidFill>
                <a:latin typeface="Aptos"/>
              </a:rPr>
              <a:t>Mall_Customers.csv  ·  Aprendizaje no supervisado con K-Means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080760"/>
            <a:ext cx="7498079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A4B4CC"/>
                </a:solidFill>
                <a:latin typeface="Aptos"/>
              </a:rPr>
              <a:t>INFORME EJECUTIVO  |  200 CLIENTES  |  5 SEGMENTOS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565392"/>
            <a:ext cx="8686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A4B4CC"/>
                </a:solidFill>
                <a:latin typeface="Aptos"/>
              </a:rPr>
              <a:t>MALL CUSTOMERS  /  K-MEANS  /  ANÁLISIS EXPLORATORIO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36E0E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6E0E2"/>
                </a:solidFill>
                <a:latin typeface="Aptos"/>
              </a:rPr>
              <a:t>01 / DECISIÓN EJECUTIVA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2F7FF"/>
                </a:solidFill>
                <a:latin typeface="Aptos Display"/>
              </a:rPr>
              <a:t>Una sola base. Cinco comportamientos distintos.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4CC"/>
                </a:solidFill>
                <a:latin typeface="Aptos"/>
              </a:rPr>
              <a:t>El ingreso no basta para explicar la puntuación de gasto; las acciones deben responder al perfil observado.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05840" cy="32004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64208" y="1746504"/>
            <a:ext cx="384048" cy="32004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47472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4B4CC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8686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A4B4CC"/>
                </a:solidFill>
                <a:latin typeface="Aptos"/>
              </a:rPr>
              <a:t>MALL CUSTOMERS  /  K-MEANS  /  ANÁLISIS EXPLORATORIO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36E0E2"/>
                </a:solidFill>
                <a:latin typeface="Aptos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057400"/>
            <a:ext cx="4663440" cy="333756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359152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6E0E2"/>
                </a:solidFill>
                <a:latin typeface="Aptos"/>
              </a:rPr>
              <a:t>HALLAZGO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88920"/>
            <a:ext cx="38404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2F7FF"/>
                </a:solidFill>
                <a:latin typeface="Aptos Display"/>
              </a:rPr>
              <a:t>r = 0,010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3611880"/>
            <a:ext cx="3794760" cy="6583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A4B4CC"/>
                </a:solidFill>
                <a:latin typeface="Aptos"/>
              </a:rPr>
              <a:t>Correlación casi nula entre ingreso anual y Spending Score.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7552" y="4572000"/>
            <a:ext cx="3749039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8E0AD"/>
                </a:solidFill>
                <a:latin typeface="Aptos"/>
              </a:rPr>
              <a:t>La segmentación conjunta evita estrategias uniformes.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0" y="2057400"/>
            <a:ext cx="1828800" cy="150876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0" y="2057400"/>
            <a:ext cx="50292" cy="1508760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0448" y="2221992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36E0E2"/>
                </a:solidFill>
                <a:latin typeface="Aptos"/>
              </a:rPr>
              <a:t>MUESTRA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0448" y="2496312"/>
            <a:ext cx="14447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F7FF"/>
                </a:solidFill>
                <a:latin typeface="Aptos Display"/>
              </a:rPr>
              <a:t>200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70448" y="3008376"/>
            <a:ext cx="1444752" cy="4480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4CC"/>
                </a:solidFill>
                <a:latin typeface="Aptos"/>
              </a:rPr>
              <a:t>clientes analizados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26679" y="2057400"/>
            <a:ext cx="1828800" cy="150876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726679" y="2057400"/>
            <a:ext cx="50292" cy="1508760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7848" y="2221992"/>
            <a:ext cx="14630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429B"/>
                </a:solidFill>
                <a:latin typeface="Aptos"/>
              </a:rPr>
              <a:t>MODELO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7848" y="2496312"/>
            <a:ext cx="14447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F7FF"/>
                </a:solidFill>
                <a:latin typeface="Aptos Display"/>
              </a:rPr>
              <a:t>K-Means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27848" y="3008376"/>
            <a:ext cx="1444752" cy="4480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4B4CC"/>
                </a:solidFill>
                <a:latin typeface="Aptos"/>
              </a:rPr>
              <a:t>aprendizaje no supervisado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84080" y="2057400"/>
            <a:ext cx="1737360" cy="150876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84080" y="2057400"/>
            <a:ext cx="50292" cy="1508760"/>
          </a:xfrm>
          <a:prstGeom prst="rect">
            <a:avLst/>
          </a:prstGeom>
          <a:solidFill>
            <a:srgbClr val="91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85248" y="2221992"/>
            <a:ext cx="1371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167FF"/>
                </a:solidFill>
                <a:latin typeface="Aptos"/>
              </a:rPr>
              <a:t>SILUETA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85248" y="2496312"/>
            <a:ext cx="1353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F7FF"/>
                </a:solidFill>
                <a:latin typeface="Aptos Display"/>
              </a:rPr>
              <a:t>0,555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5248" y="3008376"/>
            <a:ext cx="1353312" cy="4480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4B4CC"/>
                </a:solidFill>
                <a:latin typeface="Aptos"/>
              </a:rPr>
              <a:t>valor reportado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0" y="3840480"/>
            <a:ext cx="2743200" cy="155448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0" y="3840480"/>
            <a:ext cx="50292" cy="1554480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70448" y="4005072"/>
            <a:ext cx="23774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36E0E2"/>
                </a:solidFill>
                <a:latin typeface="Aptos"/>
              </a:rPr>
              <a:t>VARIABLES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70448" y="4279392"/>
            <a:ext cx="23591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F7FF"/>
                </a:solidFill>
                <a:latin typeface="Aptos Display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70448" y="4791456"/>
            <a:ext cx="235915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4CC"/>
                </a:solidFill>
                <a:latin typeface="Aptos"/>
              </a:rPr>
              <a:t>Ingreso anual + Spending Score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41080" y="3840480"/>
            <a:ext cx="2880360" cy="155448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641080" y="3840480"/>
            <a:ext cx="50292" cy="1554480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42248" y="4005072"/>
            <a:ext cx="25146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429B"/>
                </a:solidFill>
                <a:latin typeface="Aptos"/>
              </a:rPr>
              <a:t>SALIDA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42248" y="4279392"/>
            <a:ext cx="249631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F7FF"/>
                </a:solidFill>
                <a:latin typeface="Aptos Display"/>
              </a:rPr>
              <a:t>5 grupos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42248" y="4791456"/>
            <a:ext cx="2496312" cy="4937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4CC"/>
                </a:solidFill>
                <a:latin typeface="Aptos"/>
              </a:rPr>
              <a:t>perfiles para probar acciones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6E0E2"/>
                </a:solidFill>
                <a:latin typeface="Aptos"/>
              </a:rPr>
              <a:t>02 / 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2F7FF"/>
                </a:solidFill>
                <a:latin typeface="Aptos Display"/>
              </a:rPr>
              <a:t>La base es simple, interpretable y exploratoria.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4CC"/>
                </a:solidFill>
                <a:latin typeface="Aptos"/>
              </a:rPr>
              <a:t>200 registros · 5 variables originales · sin valores faltantes ni filas duplicadas reportadas.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05840" cy="32004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64208" y="1746504"/>
            <a:ext cx="384048" cy="32004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47472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4B4CC"/>
                </a:solidFill>
                <a:latin typeface="Apto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8686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A4B4CC"/>
                </a:solidFill>
                <a:latin typeface="Aptos"/>
              </a:rPr>
              <a:t>MALL CUSTOMERS  /  K-MEANS  /  ANÁLISIS EXPLORATORIO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36E0E2"/>
                </a:solidFill>
                <a:latin typeface="Aptos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57400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2057400"/>
            <a:ext cx="50292" cy="1417320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221992"/>
            <a:ext cx="3108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36E0E2"/>
                </a:solidFill>
                <a:latin typeface="Aptos"/>
              </a:rPr>
              <a:t>EDAD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496312"/>
            <a:ext cx="30906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F7FF"/>
                </a:solidFill>
                <a:latin typeface="Aptos Display"/>
              </a:rPr>
              <a:t>38,85 años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08376"/>
            <a:ext cx="3090672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4B4CC"/>
                </a:solidFill>
                <a:latin typeface="Aptos"/>
              </a:rPr>
              <a:t>Media · rango: 18–70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703320"/>
            <a:ext cx="3474720" cy="141732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13232" y="3703320"/>
            <a:ext cx="50292" cy="1417320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67911"/>
            <a:ext cx="3108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429B"/>
                </a:solidFill>
                <a:latin typeface="Aptos"/>
              </a:rPr>
              <a:t>INGRESO ANUAL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142231"/>
            <a:ext cx="30906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F7FF"/>
                </a:solidFill>
                <a:latin typeface="Aptos Display"/>
              </a:rPr>
              <a:t>60,56 k$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654296"/>
            <a:ext cx="3090672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4B4CC"/>
                </a:solidFill>
                <a:latin typeface="Aptos"/>
              </a:rPr>
              <a:t>Media · rango: 15–137 k$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5349240"/>
            <a:ext cx="3474720" cy="91440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13232" y="5349240"/>
            <a:ext cx="50292" cy="914400"/>
          </a:xfrm>
          <a:prstGeom prst="rect">
            <a:avLst/>
          </a:prstGeom>
          <a:solidFill>
            <a:srgbClr val="91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513831"/>
            <a:ext cx="3108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167FF"/>
                </a:solidFill>
                <a:latin typeface="Aptos"/>
              </a:rPr>
              <a:t>SPENDING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88152"/>
            <a:ext cx="30906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F7FF"/>
                </a:solidFill>
                <a:latin typeface="Aptos Display"/>
              </a:rPr>
              <a:t>50,20 / 100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300216"/>
            <a:ext cx="3090672" cy="-146303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4CC"/>
                </a:solidFill>
                <a:latin typeface="Aptos"/>
              </a:rPr>
              <a:t>Media · rango: 1–99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2057400"/>
            <a:ext cx="6903720" cy="420624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2331720"/>
            <a:ext cx="6126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6E0E2"/>
                </a:solidFill>
                <a:latin typeface="Aptos"/>
              </a:rPr>
              <a:t>VARIABLES Y USO EN EL MODELO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2788920"/>
            <a:ext cx="6217920" cy="1600200"/>
          </a:xfrm>
          <a:prstGeom prst="rect">
            <a:avLst/>
          </a:prstGeom>
          <a:noFill/>
        </p:spPr>
        <p:txBody>
          <a:bodyPr wrap="square" lIns="36576" rIns="36576" tIns="36576" bIns="36576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Annual Income (k$)  →  entrada del clustering</a:t>
            </a:r>
          </a:p>
          <a:p>
            <a:pPr>
              <a:spcAft>
                <a:spcPts val="13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Spending Score (1–100)  →  entrada del clustering</a:t>
            </a:r>
          </a:p>
          <a:p>
            <a:pPr>
              <a:spcAft>
                <a:spcPts val="13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Age / Gender  →  perfilamiento posterior</a:t>
            </a:r>
          </a:p>
          <a:p>
            <a:pPr>
              <a:spcAft>
                <a:spcPts val="1300"/>
              </a:spcAft>
              <a:defRPr sz="1400">
                <a:solidFill>
                  <a:srgbClr val="F2F7FF"/>
                </a:solidFill>
                <a:latin typeface="Aptos"/>
              </a:defRPr>
            </a:pPr>
            <a:r>
              <a:t>CustomerID  →  excluido: es solo un identificador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00600" y="4800600"/>
            <a:ext cx="6172200" cy="13716"/>
          </a:xfrm>
          <a:prstGeom prst="rect">
            <a:avLst/>
          </a:prstGeom>
          <a:solidFill>
            <a:srgbClr val="16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5074920"/>
            <a:ext cx="914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FFB547"/>
                </a:solidFill>
                <a:latin typeface="Aptos"/>
              </a:rPr>
              <a:t>Cautela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00600" y="5394960"/>
            <a:ext cx="608076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4CC"/>
                </a:solidFill>
                <a:latin typeface="Aptos"/>
              </a:rPr>
              <a:t>Spending Score es una puntuación asignada; no equivale al importe real de compras. Se reportaron dos ingresos altos por criterio IQR; no deben eliminarse automáticamente.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6E0E2"/>
                </a:solidFill>
                <a:latin typeface="Aptos"/>
              </a:rPr>
              <a:t>03 / MÉTODO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2F7FF"/>
                </a:solidFill>
                <a:latin typeface="Aptos Display"/>
              </a:rPr>
              <a:t>K-Means: de variables comparables a perfiles accionables.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4CC"/>
                </a:solidFill>
                <a:latin typeface="Aptos"/>
              </a:rPr>
              <a:t>Se estandarizaron ingreso y puntuación de gasto; se compararon configuraciones de k entre 2 y 8.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05840" cy="32004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64208" y="1746504"/>
            <a:ext cx="384048" cy="32004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47472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4B4CC"/>
                </a:solidFill>
                <a:latin typeface="Apto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8686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A4B4CC"/>
                </a:solidFill>
                <a:latin typeface="Aptos"/>
              </a:rPr>
              <a:t>MALL CUSTOMERS  /  K-MEANS  /  ANÁLISIS EXPLORATORIO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36E0E2"/>
                </a:solidFill>
                <a:latin typeface="Aptos"/>
              </a:rPr>
              <a:t>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23160"/>
            <a:ext cx="2423160" cy="224028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651760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36E0E2"/>
                </a:solidFill>
                <a:latin typeface="Aptos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8211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7FF"/>
                </a:solidFill>
                <a:latin typeface="Aptos"/>
              </a:rPr>
              <a:t>SELECCIONAR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703320"/>
            <a:ext cx="20116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4B4CC"/>
                </a:solidFill>
                <a:latin typeface="Aptos"/>
              </a:rPr>
              <a:t>Ingreso anual
Spending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246120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6E0E2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66160" y="2423160"/>
            <a:ext cx="2423160" cy="224028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67328" y="2651760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167FF"/>
                </a:solidFill>
                <a:latin typeface="Aptos Display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318211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7FF"/>
                </a:solidFill>
                <a:latin typeface="Aptos"/>
              </a:rPr>
              <a:t>ESTANDARIZAR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3703320"/>
            <a:ext cx="20116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4B4CC"/>
                </a:solidFill>
                <a:latin typeface="Aptos"/>
              </a:rPr>
              <a:t>StandardScaler
para equilibrar escalas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3246120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6E0E2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2423160"/>
            <a:ext cx="2423160" cy="224028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2651760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429B"/>
                </a:solidFill>
                <a:latin typeface="Aptos Display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318211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7FF"/>
                </a:solidFill>
                <a:latin typeface="Aptos"/>
              </a:rPr>
              <a:t>AGRUPAR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3703320"/>
            <a:ext cx="20116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4B4CC"/>
                </a:solidFill>
                <a:latin typeface="Aptos"/>
              </a:rPr>
              <a:t>K-Means
k =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3246120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6E0E2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5440" y="2423160"/>
            <a:ext cx="2423160" cy="224028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651760"/>
            <a:ext cx="50292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B547"/>
                </a:solidFill>
                <a:latin typeface="Aptos Display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36608" y="318211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7FF"/>
                </a:solidFill>
                <a:latin typeface="Aptos"/>
              </a:rPr>
              <a:t>EVALUAR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3703320"/>
            <a:ext cx="20116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A4B4CC"/>
                </a:solidFill>
                <a:latin typeface="Aptos"/>
              </a:rPr>
              <a:t>Silueta reportada
0,555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166360"/>
            <a:ext cx="10561320" cy="685800"/>
          </a:xfrm>
          <a:prstGeom prst="roundRect">
            <a:avLst>
              <a:gd name="adj" fmla="val 12000"/>
            </a:avLst>
          </a:prstGeom>
          <a:solidFill>
            <a:srgbClr val="162641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" y="5321808"/>
            <a:ext cx="1417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6E0E2"/>
                </a:solidFill>
                <a:latin typeface="Aptos"/>
              </a:rPr>
              <a:t>Lectura ejecutiva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68880" y="5285232"/>
            <a:ext cx="83210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7FF"/>
                </a:solidFill>
                <a:latin typeface="Aptos"/>
              </a:rPr>
              <a:t>La silueta sugiere una separación razonable para esta muestra; no demuestra estabilidad ni eficacia comercial.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6E0E2"/>
                </a:solidFill>
                <a:latin typeface="Aptos"/>
              </a:rPr>
              <a:t>04 / MAPA DE SEGMENTOS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2F7FF"/>
                </a:solidFill>
                <a:latin typeface="Aptos Display"/>
              </a:rPr>
              <a:t>Cinco grupos. Dos ejes de comportamiento.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4CC"/>
                </a:solidFill>
                <a:latin typeface="Aptos"/>
              </a:rPr>
              <a:t>Las etiquetas 0–4 son técnicas; los nombres descriptivos comunican mejor el perfil.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05840" cy="32004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64208" y="1746504"/>
            <a:ext cx="384048" cy="32004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47472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4B4CC"/>
                </a:solidFill>
                <a:latin typeface="Apto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8686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A4B4CC"/>
                </a:solidFill>
                <a:latin typeface="Aptos"/>
              </a:rPr>
              <a:t>MALL CUSTOMERS  /  K-MEANS  /  ANÁLISIS EXPLORATORIO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36E0E2"/>
                </a:solidFill>
                <a:latin typeface="Aptos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48840"/>
            <a:ext cx="3154680" cy="150876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48840"/>
            <a:ext cx="54864" cy="1508760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331720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6E0E2"/>
                </a:solidFill>
                <a:latin typeface="Aptos"/>
              </a:rPr>
              <a:t>G0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679192"/>
            <a:ext cx="2697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INTERMEDIO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200400"/>
            <a:ext cx="2651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4B4CC"/>
                </a:solidFill>
                <a:latin typeface="Aptos"/>
              </a:rPr>
              <a:t>40,5%  ·  81 clientes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148840"/>
            <a:ext cx="3154680" cy="150876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26280" y="2148840"/>
            <a:ext cx="54864" cy="1508760"/>
          </a:xfrm>
          <a:prstGeom prst="rect">
            <a:avLst/>
          </a:prstGeom>
          <a:solidFill>
            <a:srgbClr val="58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27448" y="2331720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E0AD"/>
                </a:solidFill>
                <a:latin typeface="Aptos"/>
              </a:rPr>
              <a:t>G1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27448" y="2679192"/>
            <a:ext cx="2697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INGRESO ↑ / GASTO 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27448" y="3200400"/>
            <a:ext cx="2651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4B4CC"/>
                </a:solidFill>
                <a:latin typeface="Aptos"/>
              </a:rPr>
              <a:t>19,5%  ·  39 clientes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21040" y="2148840"/>
            <a:ext cx="3154680" cy="150876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2148840"/>
            <a:ext cx="54864" cy="1508760"/>
          </a:xfrm>
          <a:prstGeom prst="rect">
            <a:avLst/>
          </a:prstGeom>
          <a:solidFill>
            <a:srgbClr val="91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22208" y="2331720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167FF"/>
                </a:solidFill>
                <a:latin typeface="Aptos"/>
              </a:rPr>
              <a:t>G2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22208" y="2679192"/>
            <a:ext cx="2697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INGRESO ↓ / GASTO 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3200400"/>
            <a:ext cx="2651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4B4CC"/>
                </a:solidFill>
                <a:latin typeface="Aptos"/>
              </a:rPr>
              <a:t>11,0%  ·  22 clientes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06040" y="4160520"/>
            <a:ext cx="3154680" cy="150876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606040" y="4160520"/>
            <a:ext cx="54864" cy="150876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07208" y="4343400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B547"/>
                </a:solidFill>
                <a:latin typeface="Aptos"/>
              </a:rPr>
              <a:t>G3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7208" y="4690872"/>
            <a:ext cx="2697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INGRESO ↑ / GASTO 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07208" y="5212079"/>
            <a:ext cx="2651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4B4CC"/>
                </a:solidFill>
                <a:latin typeface="Aptos"/>
              </a:rPr>
              <a:t>17,5%  ·  35 clientes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4160520"/>
            <a:ext cx="3154680" cy="150876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0" y="4160520"/>
            <a:ext cx="54864" cy="1508760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01968" y="4343400"/>
            <a:ext cx="548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429B"/>
                </a:solidFill>
                <a:latin typeface="Aptos"/>
              </a:rPr>
              <a:t>G4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1968" y="4690872"/>
            <a:ext cx="26974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2F7FF"/>
                </a:solidFill>
                <a:latin typeface="Aptos"/>
              </a:rPr>
              <a:t>INGRESO ↓ / GASTO 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01968" y="5212079"/>
            <a:ext cx="2651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A4B4CC"/>
                </a:solidFill>
                <a:latin typeface="Aptos"/>
              </a:rPr>
              <a:t>11,5%  ·  23 clientes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989320"/>
            <a:ext cx="19202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6E0E2"/>
                </a:solidFill>
                <a:latin typeface="Aptos"/>
              </a:rPr>
              <a:t>Tamaño de cada grupo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0" y="6016752"/>
            <a:ext cx="3421227" cy="164592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87287" y="6016752"/>
            <a:ext cx="1635404" cy="164592"/>
          </a:xfrm>
          <a:prstGeom prst="rect">
            <a:avLst/>
          </a:prstGeom>
          <a:solidFill>
            <a:srgbClr val="58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45552" y="6016752"/>
            <a:ext cx="912571" cy="164592"/>
          </a:xfrm>
          <a:prstGeom prst="rect">
            <a:avLst/>
          </a:prstGeom>
          <a:solidFill>
            <a:srgbClr val="91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80983" y="6016752"/>
            <a:ext cx="1465326" cy="164592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269169" y="6016752"/>
            <a:ext cx="955090" cy="164592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6E0E2"/>
                </a:solidFill>
                <a:latin typeface="Aptos"/>
              </a:rPr>
              <a:t>05 / LECTURA DE 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2F7FF"/>
                </a:solidFill>
                <a:latin typeface="Aptos Display"/>
              </a:rPr>
              <a:t>El contraste más importante: ingreso ≠ gasto.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4CC"/>
                </a:solidFill>
                <a:latin typeface="Aptos"/>
              </a:rPr>
              <a:t>Medias reportadas por segmento · ingreso en miles de dólares · Spending Score en escala 1–100.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05840" cy="32004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64208" y="1746504"/>
            <a:ext cx="384048" cy="32004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47472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4B4CC"/>
                </a:solidFill>
                <a:latin typeface="Apto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8686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A4B4CC"/>
                </a:solidFill>
                <a:latin typeface="Aptos"/>
              </a:rPr>
              <a:t>MALL CUSTOMERS  /  K-MEANS  /  ANÁLISIS EXPLORATORIO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36E0E2"/>
                </a:solidFill>
                <a:latin typeface="Aptos"/>
              </a:rPr>
              <a:t>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4114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6E0E2"/>
                </a:solidFill>
                <a:latin typeface="Aptos"/>
              </a:rPr>
              <a:t>SPENDING SCORE MEDIO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542032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G0  Intermedio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560320"/>
            <a:ext cx="4023360" cy="201168"/>
          </a:xfrm>
          <a:prstGeom prst="rect">
            <a:avLst/>
          </a:prstGeom>
          <a:solidFill>
            <a:srgbClr val="16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43200" y="2560320"/>
            <a:ext cx="1991563" cy="201168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523744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6E0E2"/>
                </a:solidFill>
                <a:latin typeface="Aptos"/>
              </a:rPr>
              <a:t>49,5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145536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G1  Alto / alto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3163824"/>
            <a:ext cx="4023360" cy="201168"/>
          </a:xfrm>
          <a:prstGeom prst="rect">
            <a:avLst/>
          </a:prstGeom>
          <a:solidFill>
            <a:srgbClr val="16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43200" y="3163824"/>
            <a:ext cx="3303178" cy="201168"/>
          </a:xfrm>
          <a:prstGeom prst="rect">
            <a:avLst/>
          </a:prstGeom>
          <a:solidFill>
            <a:srgbClr val="58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3127248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E0AD"/>
                </a:solidFill>
                <a:latin typeface="Aptos"/>
              </a:rPr>
              <a:t>82,1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" y="3749039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G2  Bajo / alto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767327"/>
            <a:ext cx="4023360" cy="201168"/>
          </a:xfrm>
          <a:prstGeom prst="rect">
            <a:avLst/>
          </a:prstGeom>
          <a:solidFill>
            <a:srgbClr val="16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0" y="3767327"/>
            <a:ext cx="3194547" cy="201168"/>
          </a:xfrm>
          <a:prstGeom prst="rect">
            <a:avLst/>
          </a:prstGeom>
          <a:solidFill>
            <a:srgbClr val="91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3730752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167FF"/>
                </a:solidFill>
                <a:latin typeface="Aptos"/>
              </a:rPr>
              <a:t>79,4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352544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G3  Alto / bajo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0" y="4370831"/>
            <a:ext cx="4023360" cy="201168"/>
          </a:xfrm>
          <a:prstGeom prst="rect">
            <a:avLst/>
          </a:prstGeom>
          <a:solidFill>
            <a:srgbClr val="16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0" y="4370831"/>
            <a:ext cx="687994" cy="201168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4334256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B547"/>
                </a:solidFill>
                <a:latin typeface="Aptos"/>
              </a:rPr>
              <a:t>17,1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956048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G4  Bajo / bajo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0" y="4974336"/>
            <a:ext cx="4023360" cy="201168"/>
          </a:xfrm>
          <a:prstGeom prst="rect">
            <a:avLst/>
          </a:prstGeom>
          <a:solidFill>
            <a:srgbClr val="16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743200" y="4974336"/>
            <a:ext cx="840882" cy="201168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03720" y="4937760"/>
            <a:ext cx="502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429B"/>
                </a:solidFill>
                <a:latin typeface="Aptos"/>
              </a:rPr>
              <a:t>20,9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2057400"/>
            <a:ext cx="33832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6E0E2"/>
                </a:solidFill>
                <a:latin typeface="Aptos"/>
              </a:rPr>
              <a:t>INGRESO ANUAL MEDIO (k$)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5552" y="2542032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6E0E2"/>
                </a:solidFill>
                <a:latin typeface="Aptos"/>
              </a:rPr>
              <a:t>G0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75320" y="2560320"/>
            <a:ext cx="2286000" cy="201168"/>
          </a:xfrm>
          <a:prstGeom prst="rect">
            <a:avLst/>
          </a:prstGeom>
          <a:solidFill>
            <a:srgbClr val="16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75320" y="2560320"/>
            <a:ext cx="1264158" cy="201168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680192" y="2523744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55,3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45552" y="3145536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8E0AD"/>
                </a:solidFill>
                <a:latin typeface="Aptos"/>
              </a:rPr>
              <a:t>G1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75320" y="3163824"/>
            <a:ext cx="2286000" cy="201168"/>
          </a:xfrm>
          <a:prstGeom prst="rect">
            <a:avLst/>
          </a:prstGeom>
          <a:solidFill>
            <a:srgbClr val="16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75320" y="3163824"/>
            <a:ext cx="1977390" cy="201168"/>
          </a:xfrm>
          <a:prstGeom prst="rect">
            <a:avLst/>
          </a:prstGeom>
          <a:solidFill>
            <a:srgbClr val="58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680192" y="3127248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86,5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49039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9167FF"/>
                </a:solidFill>
                <a:latin typeface="Aptos"/>
              </a:rPr>
              <a:t>G2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5320" y="3767327"/>
            <a:ext cx="2286000" cy="201168"/>
          </a:xfrm>
          <a:prstGeom prst="rect">
            <a:avLst/>
          </a:prstGeom>
          <a:solidFill>
            <a:srgbClr val="16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275320" y="3767327"/>
            <a:ext cx="587502" cy="201168"/>
          </a:xfrm>
          <a:prstGeom prst="rect">
            <a:avLst/>
          </a:prstGeom>
          <a:solidFill>
            <a:srgbClr val="91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680192" y="3730752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25,7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45552" y="4352544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B547"/>
                </a:solidFill>
                <a:latin typeface="Aptos"/>
              </a:rPr>
              <a:t>G3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5320" y="4370831"/>
            <a:ext cx="2286000" cy="201168"/>
          </a:xfrm>
          <a:prstGeom prst="rect">
            <a:avLst/>
          </a:prstGeom>
          <a:solidFill>
            <a:srgbClr val="16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75320" y="4370831"/>
            <a:ext cx="2016252" cy="201168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680192" y="4334256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88,2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45552" y="4956048"/>
            <a:ext cx="3200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F429B"/>
                </a:solidFill>
                <a:latin typeface="Aptos"/>
              </a:rPr>
              <a:t>G4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75320" y="4974336"/>
            <a:ext cx="2286000" cy="201168"/>
          </a:xfrm>
          <a:prstGeom prst="rect">
            <a:avLst/>
          </a:prstGeom>
          <a:solidFill>
            <a:srgbClr val="16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275320" y="4974336"/>
            <a:ext cx="601218" cy="201168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680192" y="4937760"/>
            <a:ext cx="5943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2F7FF"/>
                </a:solidFill>
                <a:latin typeface="Aptos"/>
              </a:rPr>
              <a:t>26,3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" y="5806440"/>
            <a:ext cx="10607040" cy="41148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4128" y="5916168"/>
            <a:ext cx="10058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G1 gasta alto con ingresos altos; G2 gasta alto con ingresos bajos; G3 combina el mayor ingreso medio con gasto bajo.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6E0E2"/>
                </a:solidFill>
                <a:latin typeface="Aptos"/>
              </a:rPr>
              <a:t>06 / SEGMENTOS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2F7FF"/>
                </a:solidFill>
                <a:latin typeface="Aptos Display"/>
              </a:rPr>
              <a:t>Tres oportunidades: fidelizar, recompensar, activar.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4CC"/>
                </a:solidFill>
                <a:latin typeface="Aptos"/>
              </a:rPr>
              <a:t>Las acciones son hipótesis de negocio; deben probarse antes de escalar.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05840" cy="32004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64208" y="1746504"/>
            <a:ext cx="384048" cy="32004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47472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4B4CC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8686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A4B4CC"/>
                </a:solidFill>
                <a:latin typeface="Aptos"/>
              </a:rPr>
              <a:t>MALL CUSTOMERS  /  K-MEANS  /  ANÁLISIS EXPLORATORIO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36E0E2"/>
                </a:solidFill>
                <a:latin typeface="Aptos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474720" cy="356616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03120"/>
            <a:ext cx="50292" cy="3566160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67712"/>
            <a:ext cx="3108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36E0E2"/>
                </a:solidFill>
                <a:latin typeface="Aptos"/>
              </a:rPr>
              <a:t>G0 · 40,5%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42032"/>
            <a:ext cx="30906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F7FF"/>
                </a:solidFill>
                <a:latin typeface="Aptos Display"/>
              </a:rPr>
              <a:t>Perfil intermedio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054096"/>
            <a:ext cx="3090672" cy="2505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4B4CC"/>
                </a:solidFill>
                <a:latin typeface="Aptos"/>
              </a:rPr>
              <a:t>Ingreso medio: 55,3 k$
Score medio: 49,5
Acción: fidelización general, recomendaciones y promociones por frecuencia.
KPI: recompra y frecuencia de visita.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03120"/>
            <a:ext cx="3474720" cy="356616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103120"/>
            <a:ext cx="50292" cy="3566160"/>
          </a:xfrm>
          <a:prstGeom prst="rect">
            <a:avLst/>
          </a:prstGeom>
          <a:solidFill>
            <a:srgbClr val="58E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267712"/>
            <a:ext cx="3108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8E0AD"/>
                </a:solidFill>
                <a:latin typeface="Aptos"/>
              </a:rPr>
              <a:t>G1 · 19,5%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542032"/>
            <a:ext cx="30906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F7FF"/>
                </a:solidFill>
                <a:latin typeface="Aptos Display"/>
              </a:rPr>
              <a:t>Ingreso alto / gasto alto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054096"/>
            <a:ext cx="3090672" cy="2505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4B4CC"/>
                </a:solidFill>
                <a:latin typeface="Aptos"/>
              </a:rPr>
              <a:t>Ingreso medio: 86,5 k$
Score medio: 82,1
Acción: probar beneficios premium, acceso anticipado y recompensas.
KPI: retención, frecuencia y gasto real si está disponible.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103120"/>
            <a:ext cx="3474720" cy="356616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103120"/>
            <a:ext cx="50292" cy="3566160"/>
          </a:xfrm>
          <a:prstGeom prst="rect">
            <a:avLst/>
          </a:prstGeom>
          <a:solidFill>
            <a:srgbClr val="91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2267712"/>
            <a:ext cx="310896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167FF"/>
                </a:solidFill>
                <a:latin typeface="Aptos"/>
              </a:rPr>
              <a:t>G2 · 11,0%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542032"/>
            <a:ext cx="30906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F7FF"/>
                </a:solidFill>
                <a:latin typeface="Aptos Display"/>
              </a:rPr>
              <a:t>Ingreso bajo / gasto alto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054096"/>
            <a:ext cx="3090672" cy="2505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A4B4CC"/>
                </a:solidFill>
                <a:latin typeface="Aptos"/>
              </a:rPr>
              <a:t>Ingreso medio: 25,7 k$
Edad media: 25,3 años
Score medio: 79,4
Acción: promociones relevantes y paquetes asequibles.
KPI: conversión y frecuencia.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6E0E2"/>
                </a:solidFill>
                <a:latin typeface="Aptos"/>
              </a:rPr>
              <a:t>07 / SEGMENTOS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2F7FF"/>
                </a:solidFill>
                <a:latin typeface="Aptos Display"/>
              </a:rPr>
              <a:t>Dos perfiles de gasto bajo, dos respuestas diferentes.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4CC"/>
                </a:solidFill>
                <a:latin typeface="Aptos"/>
              </a:rPr>
              <a:t>Evitar asumir causas: investigar preferencias y medir respuesta real.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05840" cy="32004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64208" y="1746504"/>
            <a:ext cx="384048" cy="32004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47472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4B4CC"/>
                </a:solidFill>
                <a:latin typeface="Apto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8686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A4B4CC"/>
                </a:solidFill>
                <a:latin typeface="Aptos"/>
              </a:rPr>
              <a:t>MALL CUSTOMERS  /  K-MEANS  /  ANÁLISIS EXPLORATORIO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36E0E2"/>
                </a:solidFill>
                <a:latin typeface="Aptos"/>
              </a:rPr>
              <a:t>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148840"/>
            <a:ext cx="5074920" cy="333756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2148840"/>
            <a:ext cx="50292" cy="3337560"/>
          </a:xfrm>
          <a:prstGeom prst="rect">
            <a:avLst/>
          </a:prstGeom>
          <a:solidFill>
            <a:srgbClr val="FFB5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78408" y="2313432"/>
            <a:ext cx="470915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B547"/>
                </a:solidFill>
                <a:latin typeface="Aptos"/>
              </a:rPr>
              <a:t>G3 · 17,5%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2587752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F7FF"/>
                </a:solidFill>
                <a:latin typeface="Aptos Display"/>
              </a:rPr>
              <a:t>Ingreso alto / gasto bajo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099816"/>
            <a:ext cx="4690872" cy="22768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4B4CC"/>
                </a:solidFill>
                <a:latin typeface="Aptos"/>
              </a:rPr>
              <a:t>Ingreso medio: 88,2 k$ · Score medio: 17,1
Acción: investigar preferencias y probar campañas selectivas; no asumir que el ingreso predice la compra.
KPI: tasa de respuesta y visitas incrementales.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148840"/>
            <a:ext cx="5074920" cy="333756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148840"/>
            <a:ext cx="50292" cy="3337560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313432"/>
            <a:ext cx="4709159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429B"/>
                </a:solidFill>
                <a:latin typeface="Aptos"/>
              </a:rPr>
              <a:t>G4 · 11,5%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2587752"/>
            <a:ext cx="469087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F7FF"/>
                </a:solidFill>
                <a:latin typeface="Aptos Display"/>
              </a:rPr>
              <a:t>Ingreso bajo / gasto bajo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9088" y="3099816"/>
            <a:ext cx="4690872" cy="22768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4B4CC"/>
                </a:solidFill>
                <a:latin typeface="Aptos"/>
              </a:rPr>
              <a:t>Ingreso medio: 26,3 k$ · Score medio: 20,9
Acción: ofertas de entrada y comunicación de valor, sin generalizar preferencias individuales.
KPI: conversión, visitas y recompra.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760720"/>
            <a:ext cx="10515600" cy="411480"/>
          </a:xfrm>
          <a:prstGeom prst="roundRect">
            <a:avLst>
              <a:gd name="adj" fmla="val 12000"/>
            </a:avLst>
          </a:prstGeom>
          <a:solidFill>
            <a:srgbClr val="162641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5870448"/>
            <a:ext cx="1005840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2F7FF"/>
                </a:solidFill>
                <a:latin typeface="Aptos"/>
              </a:rPr>
              <a:t>Prioridad del informe: investigar G3; pilotear fidelización en G1; probar promociones accesibles en G2 y G4.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6E0E2"/>
                </a:solidFill>
                <a:latin typeface="Aptos"/>
              </a:rPr>
              <a:t>08 / ACTIVACIÓN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2F7FF"/>
                </a:solidFill>
                <a:latin typeface="Aptos Display"/>
              </a:rPr>
              <a:t>Convertir clusters en experimentos medibles.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4CC"/>
                </a:solidFill>
                <a:latin typeface="Aptos"/>
              </a:rPr>
              <a:t>Secuencia sugerida para reducir riesgo y comprobar el efecto incremental de cada acción.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05840" cy="32004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64208" y="1746504"/>
            <a:ext cx="384048" cy="32004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47472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4B4CC"/>
                </a:solidFill>
                <a:latin typeface="Apto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8686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A4B4CC"/>
                </a:solidFill>
                <a:latin typeface="Aptos"/>
              </a:rPr>
              <a:t>MALL CUSTOMERS  /  K-MEANS  /  ANÁLISIS EXPLORATORIO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36E0E2"/>
                </a:solidFill>
                <a:latin typeface="Aptos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423160"/>
            <a:ext cx="2423160" cy="224028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651760"/>
            <a:ext cx="457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36E0E2"/>
                </a:solidFill>
                <a:latin typeface="Aptos Display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320040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7FF"/>
                </a:solidFill>
                <a:latin typeface="Aptos"/>
              </a:rPr>
              <a:t>DISEÑAR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730752"/>
            <a:ext cx="19659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4B4CC"/>
                </a:solidFill>
                <a:latin typeface="Aptos"/>
              </a:rPr>
              <a:t>Hipótesis por segmento
Oferta + KPI + coste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246120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6E0E2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2423160"/>
            <a:ext cx="2423160" cy="224028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13048" y="2651760"/>
            <a:ext cx="457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9167FF"/>
                </a:solidFill>
                <a:latin typeface="Aptos Display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13048" y="320040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7FF"/>
                </a:solidFill>
                <a:latin typeface="Aptos"/>
              </a:rPr>
              <a:t>PILOTEAR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13048" y="3730752"/>
            <a:ext cx="19659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4B4CC"/>
                </a:solidFill>
                <a:latin typeface="Aptos"/>
              </a:rPr>
              <a:t>Campaña limitada
Grupo de control si es viable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246120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6E0E2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423160"/>
            <a:ext cx="2423160" cy="224028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47688" y="2651760"/>
            <a:ext cx="457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429B"/>
                </a:solidFill>
                <a:latin typeface="Aptos Display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320040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7FF"/>
                </a:solidFill>
                <a:latin typeface="Aptos"/>
              </a:rPr>
              <a:t>MEDIR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47688" y="3730752"/>
            <a:ext cx="19659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4B4CC"/>
                </a:solidFill>
                <a:latin typeface="Aptos"/>
              </a:rPr>
              <a:t>Conversión · recompra
Retención · visitas incrementales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3246120"/>
            <a:ext cx="3200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36E0E2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81160" y="2423160"/>
            <a:ext cx="2423160" cy="224028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82328" y="2651760"/>
            <a:ext cx="457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58E0AD"/>
                </a:solidFill>
                <a:latin typeface="Aptos Display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82328" y="320040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2F7FF"/>
                </a:solidFill>
                <a:latin typeface="Aptos"/>
              </a:rPr>
              <a:t>OPTIMIZAR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3730752"/>
            <a:ext cx="196596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4B4CC"/>
                </a:solidFill>
                <a:latin typeface="Aptos"/>
              </a:rPr>
              <a:t>Comparar resultados
Escalar solo si funciona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12080"/>
            <a:ext cx="1828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6E0E2"/>
                </a:solidFill>
                <a:latin typeface="Aptos"/>
              </a:rPr>
              <a:t>Principio de medición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5175504"/>
            <a:ext cx="85039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2F7FF"/>
                </a:solidFill>
                <a:latin typeface="Aptos"/>
              </a:rPr>
              <a:t>El antes/después por sí solo no prueba causalidad. Un grupo de control ayuda a estimar el impacto incremental.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47472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36E0E2"/>
                </a:solidFill>
                <a:latin typeface="Aptos"/>
              </a:rPr>
              <a:t>09 / CIERRE EJECUTIVO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713232"/>
            <a:ext cx="10972800" cy="5303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2F7FF"/>
                </a:solidFill>
                <a:latin typeface="Aptos Display"/>
              </a:rPr>
              <a:t>Una buena segmentación abre preguntas mejores.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9844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A4B4CC"/>
                </a:solidFill>
                <a:latin typeface="Aptos"/>
              </a:rPr>
              <a:t>La decisión no es etiquetar clientes; es diseñar, medir y aprender.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46504"/>
            <a:ext cx="1005840" cy="32004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64208" y="1746504"/>
            <a:ext cx="384048" cy="32004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0" y="347472"/>
            <a:ext cx="457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A4B4CC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65392"/>
            <a:ext cx="8686800" cy="14630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A4B4CC"/>
                </a:solidFill>
                <a:latin typeface="Aptos"/>
              </a:rPr>
              <a:t>MALL CUSTOMERS  /  K-MEANS  /  ANÁLISIS EXPLORATORIO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28816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36E0E2"/>
                </a:solidFill>
                <a:latin typeface="Aptos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103120"/>
            <a:ext cx="3429000" cy="237744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103120"/>
            <a:ext cx="50292" cy="2377440"/>
          </a:xfrm>
          <a:prstGeom prst="rect">
            <a:avLst/>
          </a:prstGeom>
          <a:solidFill>
            <a:srgbClr val="36E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2267712"/>
            <a:ext cx="3063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36E0E2"/>
                </a:solidFill>
                <a:latin typeface="Aptos"/>
              </a:rPr>
              <a:t>QUÉ SABEMOS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542032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F7FF"/>
                </a:solidFill>
                <a:latin typeface="Aptos Display"/>
              </a:rPr>
              <a:t>Cinco perfiles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054096"/>
            <a:ext cx="3044952" cy="1316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4B4CC"/>
                </a:solidFill>
                <a:latin typeface="Aptos"/>
              </a:rPr>
              <a:t>Los grupos difieren en ingreso y puntuación de gasto. La correlación global ingreso–score es 0,010.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2103120"/>
            <a:ext cx="3429000" cy="237744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2103120"/>
            <a:ext cx="50292" cy="2377440"/>
          </a:xfrm>
          <a:prstGeom prst="rect">
            <a:avLst/>
          </a:prstGeom>
          <a:solidFill>
            <a:srgbClr val="FF4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2267712"/>
            <a:ext cx="3063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F429B"/>
                </a:solidFill>
                <a:latin typeface="Aptos"/>
              </a:rPr>
              <a:t>QUÉ NO SABEMOS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0288" y="2542032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F7FF"/>
                </a:solidFill>
                <a:latin typeface="Aptos Display"/>
              </a:rPr>
              <a:t>Causas y rentabilidad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054096"/>
            <a:ext cx="3044952" cy="1316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4B4CC"/>
                </a:solidFill>
                <a:latin typeface="Aptos"/>
              </a:rPr>
              <a:t>No hay historial transaccional, margen, categorías de producto ni respuesta a promociones.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2103120"/>
            <a:ext cx="3429000" cy="2377440"/>
          </a:xfrm>
          <a:prstGeom prst="roundRect">
            <a:avLst>
              <a:gd name="adj" fmla="val 12000"/>
            </a:avLst>
          </a:prstGeom>
          <a:solidFill>
            <a:srgbClr val="111C33"/>
          </a:solidFill>
          <a:ln w="12700">
            <a:solidFill>
              <a:srgbClr val="162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2103120"/>
            <a:ext cx="50292" cy="2377440"/>
          </a:xfrm>
          <a:prstGeom prst="rect">
            <a:avLst/>
          </a:prstGeom>
          <a:solidFill>
            <a:srgbClr val="916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47888" y="2267712"/>
            <a:ext cx="3063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9167FF"/>
                </a:solidFill>
                <a:latin typeface="Aptos"/>
              </a:rPr>
              <a:t>SIGUIENTE PASO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542032"/>
            <a:ext cx="3044952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2F7FF"/>
                </a:solidFill>
                <a:latin typeface="Aptos Display"/>
              </a:rPr>
              <a:t>Validar en campo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47888" y="3054096"/>
            <a:ext cx="3044952" cy="131673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4B4CC"/>
                </a:solidFill>
                <a:latin typeface="Aptos"/>
              </a:rPr>
              <a:t>Reproducir el notebook, comprobar estabilidad con varias semillas y probar campañas con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83480"/>
            <a:ext cx="10744200" cy="822960"/>
          </a:xfrm>
          <a:prstGeom prst="roundRect">
            <a:avLst>
              <a:gd name="adj" fmla="val 12000"/>
            </a:avLst>
          </a:prstGeom>
          <a:solidFill>
            <a:srgbClr val="162641"/>
          </a:solidFill>
          <a:ln w="12700">
            <a:solidFill>
              <a:srgbClr val="36E0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166360"/>
            <a:ext cx="150876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36E0E2"/>
                </a:solidFill>
                <a:latin typeface="Aptos"/>
              </a:rPr>
              <a:t>RECOMENDACIÓN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560320" y="5102352"/>
            <a:ext cx="84124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2F7FF"/>
                </a:solidFill>
                <a:latin typeface="Aptos Display"/>
              </a:rPr>
              <a:t>Usar los segmentos como hipótesis accionables, no como etiquetas permanentes ni verdades causales.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6080760"/>
            <a:ext cx="9144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A4B4CC"/>
                </a:solidFill>
                <a:latin typeface="Aptos"/>
              </a:rPr>
              <a:t>Fuente: informe de segmentación Mall_Customers.csv proporcionado en esta conversación.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3F6FF"/>
                </a:solidFill>
                <a:latin typeface="Aptos Display"/>
              </a:defRPr>
            </a:pPr>
            <a:r>
              <a:t>01 · Mapa visual de los segmentos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7D0E0"/>
                </a:solidFill>
                <a:latin typeface="Aptos"/>
              </a:defRPr>
            </a:pPr>
            <a:r>
              <a:t>Eje horizontal: ingreso medio · Eje vertical: puntuación de gasto · Burbuja: tamaño del grupo</a:t>
            </a:r>
          </a:p>
        </p:txBody>
      </p:sp>
      <p:pic>
        <p:nvPicPr>
          <p:cNvPr id="4" name="Picture 3" descr="grafica_mapa_seg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1872"/>
            <a:ext cx="11109960" cy="4526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5925312"/>
            <a:ext cx="11109960" cy="50292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sz="1200" b="1">
                <a:solidFill>
                  <a:srgbClr val="31C6D4"/>
                </a:solidFill>
                <a:latin typeface="Aptos"/>
              </a:defRPr>
            </a:pPr>
            <a:r>
              <a:t>Lectura clave: G1 combina ingreso y gasto altos; G3 tiene alto ingreso pero gasto bajo.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3F6FF"/>
                </a:solidFill>
                <a:latin typeface="Aptos Display"/>
              </a:defRPr>
            </a:pPr>
            <a:r>
              <a:t>02 · Comparación directa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7D0E0"/>
                </a:solidFill>
                <a:latin typeface="Aptos"/>
              </a:defRPr>
            </a:pPr>
            <a:r>
              <a:t>Las barras separan las dos variables para evitar confundir ingreso con comportamiento de gasto.</a:t>
            </a:r>
          </a:p>
        </p:txBody>
      </p:sp>
      <p:pic>
        <p:nvPicPr>
          <p:cNvPr id="4" name="Picture 3" descr="grafica_comparacion_seg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1872"/>
            <a:ext cx="11109960" cy="4526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5925312"/>
            <a:ext cx="11109960" cy="50292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sz="1200" b="1">
                <a:solidFill>
                  <a:srgbClr val="31C6D4"/>
                </a:solidFill>
                <a:latin typeface="Aptos"/>
              </a:defRPr>
            </a:pPr>
            <a:r>
              <a:t>Lectura clave: G2 gasta mucho pese a su ingreso medio bajo; G4 presenta valores bajos en ambos ejes.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3F6FF"/>
                </a:solidFill>
                <a:latin typeface="Aptos Display"/>
              </a:defRPr>
            </a:pPr>
            <a:r>
              <a:t>03 · Tamaño de cada oportunidad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4124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C7D0E0"/>
                </a:solidFill>
                <a:latin typeface="Aptos"/>
              </a:defRPr>
            </a:pPr>
            <a:r>
              <a:t>El número y porcentaje de clientes ayudan a priorizar el alcance potencial de cada campaña.</a:t>
            </a:r>
          </a:p>
        </p:txBody>
      </p:sp>
      <p:pic>
        <p:nvPicPr>
          <p:cNvPr id="4" name="Picture 3" descr="grafica_tamano_segmen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1872"/>
            <a:ext cx="11109960" cy="4526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2920" y="5925312"/>
            <a:ext cx="11109960" cy="502920"/>
          </a:xfrm>
          <a:prstGeom prst="rect">
            <a:avLst/>
          </a:prstGeom>
          <a:solidFill>
            <a:srgbClr val="141F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09728"/>
          <a:lstStyle/>
          <a:p>
            <a:pPr algn="ctr">
              <a:defRPr sz="1200" b="1">
                <a:solidFill>
                  <a:srgbClr val="31C6D4"/>
                </a:solidFill>
                <a:latin typeface="Aptos"/>
              </a:defRPr>
            </a:pPr>
            <a:r>
              <a:t>Lectura clave: G0 es el grupo más grande (40.5%); las estrategias para G1 pueden enfocarse en valor premium.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