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Space Grotesk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d955ec9b-5ba4-45e5-ba0f-bf69de47b441.fntdata" /><ns0:Relationship Id="rIdFont19" Type="http://schemas.openxmlformats.org/officeDocument/2006/relationships/font" Target="fonts/fd6e450b-4f27-471d-8454-491fd30acc2a.fntdata" /><ns0:Relationship Id="rIdFont20" Type="http://schemas.openxmlformats.org/officeDocument/2006/relationships/font" Target="fonts/8cca21b8-2903-443b-8904-223039ca409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9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638800"/>
            <a:ext cx="106680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638800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3131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C220"/>
                </a:solidFill>
                <a:latin typeface="Plus Jakarta Sans"/>
              </a:rPr>
              <a:t>WALMART ANALYTICS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25100" y="623887"/>
            <a:ext cx="1390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3C5FD"/>
                </a:solidFill>
                <a:latin typeface="Plus Jakarta Sans"/>
              </a:rPr>
              <a:t>Q4 2012 - Q1 2013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82254"/>
            <a:ext cx="101203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C220"/>
                </a:solidFill>
                <a:latin typeface="Plus Jakarta Sans"/>
              </a:rPr>
              <a:t>INFORME DE DESEMPEÑO Y PROYECCIÓN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434679"/>
            <a:ext cx="8601075" cy="1131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b="1" sz="4050" i="0" u="none">
                <a:solidFill>
                  <a:srgbClr val="FFFFFF"/>
                </a:solidFill>
                <a:latin typeface="Space Grotesk"/>
              </a:rPr>
              <a:t>Análisis de Ventas Semanales &amp; Modelado de Escenarios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794670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E0F2FE"/>
                </a:solidFill>
                <a:latin typeface="Plus Jakarta Sans"/>
              </a:rPr>
              <a:t>Evaluación histórica de 45 tiendas (2010 - 2012) y pronóstico trimestral para la toma de decisiones estratégicas.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876925"/>
            <a:ext cx="2809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3C5FD"/>
                </a:solidFill>
                <a:latin typeface="Plus Jakarta Sans"/>
              </a:rPr>
              <a:t>MUESTRA ANALIZADA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29325"/>
            <a:ext cx="2809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6,435 Registros Semanales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900" y="5876925"/>
            <a:ext cx="2714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3C5FD"/>
                </a:solidFill>
                <a:latin typeface="Plus Jakarta Sans"/>
              </a:rPr>
              <a:t>COBERTURA TEMPORAL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900" y="6029325"/>
            <a:ext cx="2714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05/02/2010 a 26/10/2012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876925"/>
            <a:ext cx="2309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3C5FD"/>
                </a:solidFill>
                <a:latin typeface="Plus Jakarta Sans"/>
              </a:rPr>
              <a:t>ALCANCE OPERATIVO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029325"/>
            <a:ext cx="2309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45 Tiendas Nacionales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2725"/>
            <a:ext cx="3505200" cy="2276475"/>
          </a:xfrm>
          <a:prstGeom prst="roundRect">
            <a:avLst>
              <a:gd name="adj" fmla="val 66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52725"/>
            <a:ext cx="3505200" cy="2276475"/>
          </a:xfrm>
          <a:prstGeom prst="roundRect">
            <a:avLst>
              <a:gd name="adj" fmla="val 66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52725"/>
            <a:ext cx="3505200" cy="2276475"/>
          </a:xfrm>
          <a:prstGeom prst="roundRect">
            <a:avLst>
              <a:gd name="adj" fmla="val 66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670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670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670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190875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837" y="319087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19087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4CBE"/>
                </a:solidFill>
                <a:latin typeface="Plus Jakarta Sans"/>
              </a:rPr>
              <a:t>Resumen Ejecutivo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Metadatos y Alcance del 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1475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Unidades de Análisis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29075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45 tiendas consolidadas con seguimiento constante de ventas e indicadores microeconómicos.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1475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Horizonte 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029075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143 semanas de histórico continuo comprendidas entre febrero 2010 y octubre 2012.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1475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Variables Externas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029075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Inclusión de IPC, combustible, desempleo, temperatura y festivos oficiales.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4355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0800" y="2928937"/>
            <a:ext cx="9525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1525" y="2928937"/>
            <a:ext cx="9525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857875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4CBE"/>
                </a:solidFill>
                <a:latin typeface="Plus Jakarta Sans"/>
              </a:rPr>
              <a:t>Métricas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Comportamiento Semanal Promedio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5772150"/>
            <a:ext cx="10039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Dispersión Operativa: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La desviación estándar en ventas semanales asciende a </a:t>
            </a:r>
            <a:r>
              <a:rPr b="1" sz="1200" i="0" u="none">
                <a:solidFill>
                  <a:srgbClr val="334155"/>
                </a:solidFill>
                <a:latin typeface="Plus Jakarta Sans"/>
              </a:rPr>
              <a:t>$564,366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, reflejando alta heterogeneidad en el tamaño y capacidad comercial entre las 45 unidades.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99" y="2857500"/>
            <a:ext cx="45640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04CBE"/>
                </a:solidFill>
                <a:latin typeface="Space Grotesk"/>
              </a:rPr>
              <a:t>$1.05M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199" y="3562350"/>
            <a:ext cx="456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Venta Promedio por Tienda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925" y="2857500"/>
            <a:ext cx="45640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Space Grotesk"/>
              </a:rPr>
              <a:t>$3.82M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925" y="3562350"/>
            <a:ext cx="456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Venta Máxima Semanal (Pico)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4650" y="2857500"/>
            <a:ext cx="45640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16A34A"/>
                </a:solidFill>
                <a:latin typeface="Space Grotesk"/>
              </a:rPr>
              <a:t>8.00%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4650" y="3562350"/>
            <a:ext cx="456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Tasa Desempleo Promedio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733675"/>
            <a:ext cx="5257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543300"/>
            <a:ext cx="5257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352925"/>
            <a:ext cx="5257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733675"/>
            <a:ext cx="38100" cy="619125"/>
          </a:xfrm>
          <a:prstGeom prst="rect">
            <a:avLst/>
          </a:prstGeom>
          <a:solidFill>
            <a:srgbClr val="004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4330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352925"/>
            <a:ext cx="38100" cy="6191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43112"/>
            <a:ext cx="52578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43112"/>
            <a:ext cx="52578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4CBE"/>
                </a:solidFill>
                <a:latin typeface="Plus Jakarta Sans"/>
              </a:rPr>
              <a:t>Patrones de Consumo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Identificación de Estacionalidad 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33675"/>
            <a:ext cx="6600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Picos de Trimestre IV (Q4)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990850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Noviembre y Diciembre concentran la mayor facturación anual por eventos festivos (Thanksgiving y Navidad).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543300"/>
            <a:ext cx="6600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Contracción Post-Festiva (Q1)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00475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Enero presenta un ajuste a la baja regular, registrando ventas promedio cercanas a los $41.57M semanales.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352925"/>
            <a:ext cx="6600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Estabilidad Intermedia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610100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Entre marzo y octubre la demanda se mantiene estable en torno a $45M–$47M semanales por cadena.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4408140" cy="5095875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22540" y="2767012"/>
            <a:ext cx="6259859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5825" y="4371975"/>
            <a:ext cx="385569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5825" y="4371975"/>
            <a:ext cx="385569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60665" y="3357562"/>
          <a:ext cx="5783609" cy="13430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00038"/>
                <a:gridCol w="2083296"/>
                <a:gridCol w="2200275"/>
              </a:tblGrid>
              <a:tr h="33575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Venta Promedio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Índice Estacional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Noviembre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$51.62M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1.10x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Diciembre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$57.68M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1.23x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757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Enero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$41.57M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0.89x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4CBE"/>
                </a:solidFill>
                <a:latin typeface="Plus Jakarta Sans"/>
              </a:rPr>
              <a:t>Comportamiento Histórico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Cálculo de Tendencia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828925"/>
            <a:ext cx="48196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AJUSTE DE REGRESIÓN LINEAL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114675"/>
            <a:ext cx="4819612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4CBE"/>
                </a:solidFill>
                <a:latin typeface="Space Grotesk"/>
              </a:rPr>
              <a:t>+$4,275 / sem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14750"/>
            <a:ext cx="395094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Pendiente de crecimiento promedio positivo sobre el total de ventas semanales consolidadas.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0665" y="3005137"/>
            <a:ext cx="66313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Promedio de Ventas Mensuales Históricas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572000"/>
            <a:ext cx="39509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Conclusión: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Tendencia estructuralmente estable con ligera aceleración interanual.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89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575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862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148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4CBE"/>
                </a:solidFill>
                <a:latin typeface="Plus Jakarta Sans"/>
              </a:rPr>
              <a:t>Metodología de Proyección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Supuestos para los Escenarios Futuros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" y="272891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04CBE"/>
                </a:solidFill>
                <a:latin typeface="Plus Jakarta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35756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04CBE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98621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16A34A"/>
                </a:solidFill>
                <a:latin typeface="Plus Jakarta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61486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DC2626"/>
                </a:solidFill>
                <a:latin typeface="Plus Jakarta San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728912"/>
            <a:ext cx="8248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Base Trend-Seasonal: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Combina extrapolación lineal de tendencia con ponderadores estacionales mensuales multiplicativos.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3357562"/>
            <a:ext cx="8248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Escenario Esperado: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Refleja el desempeño inercial previsto según condiciones macroeconómicas estables.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986212"/>
            <a:ext cx="8248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Escenario Optimista (+8%):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Supone alta eficacia promocional e incremento en la confianza del consumidor.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4614862"/>
            <a:ext cx="8248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Escenario Pesimista (-8%):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Modela desaceleración por presiones inflacionarias o alza en combustible.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123950"/>
          <a:ext cx="10972798" cy="34861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48545"/>
                <a:gridCol w="2774602"/>
                <a:gridCol w="2799903"/>
                <a:gridCol w="2749748"/>
              </a:tblGrid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Semana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Esperado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86EFAC"/>
                          </a:solidFill>
                          <a:latin typeface="Plus Jakarta Sans"/>
                        </a:rPr>
                        <a:t>Optimista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FCA5A5"/>
                          </a:solidFill>
                          <a:latin typeface="Plus Jakarta Sans"/>
                        </a:rPr>
                        <a:t>Pesimista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02-11-2012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51,964,260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56,121,410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47,807,120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09-11-2012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51,968,950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56,126,460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47,811,430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16-11-2012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51,973,630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56,131,520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47,815,740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23-11-2012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51,978,320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56,136,580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47,820,050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30-11-2012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51,983,000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56,141,640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47,824,360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07-12-2012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58,086,910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62,733,860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53,439,950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14-12-2012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58,092,140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62,739,510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53,444,770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21-12-2012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58,097,370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62,745,160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53,449,580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1692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28-12-2012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58,102,610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62,750,820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53,454,400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693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04-01-2013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41,880,380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45,230,810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38,529,950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4CBE"/>
                </a:solidFill>
                <a:latin typeface="Plus Jakarta Sans"/>
              </a:rPr>
              <a:t>Pronóstico Cuantitativo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Proyección de Ventas (Nov 2012 - Ene 2013)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66825"/>
            <a:ext cx="10972800" cy="5133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1276350"/>
            <a:ext cx="10229850" cy="5114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4CBE"/>
                </a:solidFill>
                <a:latin typeface="Plus Jakarta Sans"/>
              </a:rPr>
              <a:t>Visualización de Escenarios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Gráfico de Tendencia y Pronóstico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81125"/>
            <a:ext cx="5334000" cy="5019675"/>
          </a:xfrm>
          <a:prstGeom prst="roundRect">
            <a:avLst>
              <a:gd name="adj" fmla="val 30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381125"/>
            <a:ext cx="5334000" cy="5019675"/>
          </a:xfrm>
          <a:prstGeom prst="roundRect">
            <a:avLst>
              <a:gd name="adj" fmla="val 30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00212"/>
            <a:ext cx="28575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700212"/>
            <a:ext cx="1714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4CBE"/>
                </a:solidFill>
                <a:latin typeface="Plus Jakarta Sans"/>
              </a:rPr>
              <a:t>Plan de 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Recomendaciones Estratégicas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085975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Asegurar abastecimiento para picos semanales proyectados de hasta $62.7M en diciembre para evitar quiebres de stock.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085975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Lanzar campañas promocionales de liquidación a inicios de enero para contener la caída estacional hacia los $41.8M.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3975" y="1695450"/>
            <a:ext cx="30253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Gestión de Inventario 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1695450"/>
            <a:ext cx="362545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Mitigación del Ajuste en Enero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E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91200" y="44672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24375" y="2352675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C220"/>
                </a:solidFill>
                <a:latin typeface="Plus Jakarta Sans"/>
              </a:rPr>
              <a:t>CONCLUSIÓN DEL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666" y="2705100"/>
            <a:ext cx="9338667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Space Grotesk"/>
              </a:rPr>
              <a:t>¿Preguntas o Comentarios?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609975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3C5FD"/>
                </a:solidFill>
                <a:latin typeface="Plus Jakarta Sans"/>
              </a:rPr>
              <a:t>Reporte de proyecciones y análisis de ventas listo para revisión directiva.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https://images.squarespace-cdn.com/content/v1/6202155382029f363002a063/70712cb3-d69b-45d7-8d63-e2bed51147d7/retail-data-capture-image.jpg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893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www.datemaretail.com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