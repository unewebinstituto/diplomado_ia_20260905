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245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06840" y="1143000"/>
            <a:ext cx="2011680" cy="2011680"/>
          </a:xfrm>
          <a:prstGeom prst="ellipse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1920240"/>
            <a:ext cx="1417320" cy="1417320"/>
          </a:xfrm>
          <a:prstGeom prst="ellipse">
            <a:avLst/>
          </a:prstGeom>
          <a:solidFill>
            <a:srgbClr val="DE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23960" y="3703320"/>
            <a:ext cx="1097280" cy="1097280"/>
          </a:xfrm>
          <a:prstGeom prst="ellipse">
            <a:avLst/>
          </a:prstGeom>
          <a:solidFill>
            <a:srgbClr val="5C9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4160520"/>
            <a:ext cx="1325880" cy="1325880"/>
          </a:xfrm>
          <a:prstGeom prst="ellipse">
            <a:avLst/>
          </a:prstGeom>
          <a:solidFill>
            <a:srgbClr val="467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ADCD7"/>
                </a:solidFill>
                <a:latin typeface="Aptos"/>
              </a:defRPr>
            </a:pPr>
            <a:r>
              <a:t>PRESENTACIÓN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132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Segmentación de clientes</a:t>
            </a:r>
            <a:br/>
            <a:r>
              <a:t>con K-Means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6675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E1E9F0"/>
                </a:solidFill>
                <a:latin typeface="Aptos"/>
              </a:defRPr>
            </a:pPr>
            <a:r>
              <a:t>Mall Customer Segmentation · 200 clientes</a:t>
            </a:r>
            <a:br/>
            <a:r>
              <a:t>De los datos a decisiones comerciales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2DCE6"/>
                </a:solidFill>
                <a:latin typeface="Aptos"/>
              </a:defRPr>
            </a:pPr>
            <a:r>
              <a:t>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828C"/>
                </a:solidFill>
                <a:latin typeface="Aptos"/>
              </a:defRPr>
            </a:pPr>
            <a:r>
              <a:t>01 · DECISIONES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Resumen ejecutivo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51560" cy="5029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606040" cy="1783080"/>
          </a:xfrm>
          <a:prstGeom prst="roundRect">
            <a:avLst/>
          </a:prstGeom>
          <a:solidFill>
            <a:srgbClr val="F2F6FA"/>
          </a:solidFill>
          <a:ln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673351"/>
            <a:ext cx="22768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5F6973"/>
                </a:solidFill>
                <a:latin typeface="Aptos"/>
              </a:defRPr>
            </a:pPr>
            <a:r>
              <a:t>CLIENTES ANALIZADOS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039112"/>
            <a:ext cx="22768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0828C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624328"/>
            <a:ext cx="2276856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A333D"/>
                </a:solidFill>
                <a:latin typeface="Aptos"/>
              </a:defRPr>
            </a:pPr>
            <a:r>
              <a:t>Base pequeña y manejable para demostrar segmentación.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08760"/>
            <a:ext cx="2606040" cy="1783080"/>
          </a:xfrm>
          <a:prstGeom prst="roundRect">
            <a:avLst/>
          </a:prstGeom>
          <a:solidFill>
            <a:srgbClr val="F2F6FA"/>
          </a:solidFill>
          <a:ln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673351"/>
            <a:ext cx="22768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5F6973"/>
                </a:solidFill>
                <a:latin typeface="Aptos"/>
              </a:defRPr>
            </a:pPr>
            <a:r>
              <a:t>SEGMENTOS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039112"/>
            <a:ext cx="22768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DEA33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624328"/>
            <a:ext cx="2276856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A333D"/>
                </a:solidFill>
                <a:latin typeface="Aptos"/>
              </a:defRPr>
            </a:pPr>
            <a:r>
              <a:t>Perfiles distintos por ingreso anual y puntuación de gasto.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2606040" cy="1783080"/>
          </a:xfrm>
          <a:prstGeom prst="roundRect">
            <a:avLst/>
          </a:prstGeom>
          <a:solidFill>
            <a:srgbClr val="F2F6FA"/>
          </a:solidFill>
          <a:ln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673351"/>
            <a:ext cx="22768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5F6973"/>
                </a:solidFill>
                <a:latin typeface="Aptos"/>
              </a:defRPr>
            </a:pPr>
            <a:r>
              <a:t>SILUETA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039112"/>
            <a:ext cx="227685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397D5B"/>
                </a:solidFill>
                <a:latin typeface="Aptos"/>
              </a:defRPr>
            </a:pPr>
            <a:r>
              <a:t>0,555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624328"/>
            <a:ext cx="2276856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A333D"/>
                </a:solidFill>
                <a:latin typeface="Aptos"/>
              </a:defRPr>
            </a:pPr>
            <a:r>
              <a:t>Mejor valor entre K = 2 y K = 8 evaluados.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508760"/>
            <a:ext cx="2514600" cy="1783080"/>
          </a:xfrm>
          <a:prstGeom prst="roundRect">
            <a:avLst/>
          </a:prstGeom>
          <a:solidFill>
            <a:srgbClr val="F2F6FA"/>
          </a:solidFill>
          <a:ln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2" y="1673351"/>
            <a:ext cx="2185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5F6973"/>
                </a:solidFill>
                <a:latin typeface="Aptos"/>
              </a:defRPr>
            </a:pPr>
            <a:r>
              <a:t>GRUPO MAYOR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2039112"/>
            <a:ext cx="218541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24527A"/>
                </a:solidFill>
                <a:latin typeface="Aptos"/>
              </a:defRPr>
            </a:pPr>
            <a:r>
              <a:t>40,5 %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2624328"/>
            <a:ext cx="2185416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A333D"/>
                </a:solidFill>
                <a:latin typeface="Aptos"/>
              </a:defRPr>
            </a:pPr>
            <a:r>
              <a:t>Segmento 0: 81 clientes con valores intermedios.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9476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  <a:latin typeface="Aptos"/>
              </a:defRPr>
            </a:pPr>
            <a:r>
              <a:t>Qué significa para el negocio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5196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33D"/>
                </a:solidFill>
                <a:latin typeface="Aptos"/>
              </a:defRPr>
            </a:pPr>
            <a:r>
              <a:t>No todos los clientes deben recibir la misma propuesta comercial.</a:t>
            </a:r>
          </a:p>
          <a:p>
            <a:pPr>
              <a:spcAft>
                <a:spcPts val="1000"/>
              </a:spcAft>
              <a:defRPr sz="1600">
                <a:solidFill>
                  <a:srgbClr val="2A333D"/>
                </a:solidFill>
                <a:latin typeface="Aptos"/>
              </a:defRPr>
            </a:pPr>
            <a:r>
              <a:t>El grupo de ingresos altos y gasto bajo (segmento 3) es una oportunidad para investigar y probar activación.</a:t>
            </a:r>
          </a:p>
          <a:p>
            <a:pPr>
              <a:spcAft>
                <a:spcPts val="1000"/>
              </a:spcAft>
              <a:defRPr sz="1600">
                <a:solidFill>
                  <a:srgbClr val="2A333D"/>
                </a:solidFill>
                <a:latin typeface="Aptos"/>
              </a:defRPr>
            </a:pPr>
            <a:r>
              <a:t>La puntuación de gasto es un indicador del dataset, no una medida directa de ventas ni rentabilidad.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F6973"/>
                </a:solidFill>
                <a:latin typeface="Aptos"/>
              </a:defRPr>
            </a:pPr>
            <a:r>
              <a:t>SEGMENTACIÓN DE CLIENTES · MALL CUSTOMERS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828C"/>
                </a:solidFill>
                <a:latin typeface="Aptos"/>
              </a:defRPr>
            </a:pPr>
            <a:r>
              <a:t>02 · CÓMO SE CONSTRUYÓ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Datos y enfoque analítico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51560" cy="5029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5120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  <a:latin typeface="Aptos"/>
              </a:defRPr>
            </a:pPr>
            <a:r>
              <a:t>Dataset: Mall_Customers.csv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A333D"/>
                </a:solidFill>
                <a:latin typeface="Aptos"/>
              </a:defRPr>
            </a:pPr>
            <a:r>
              <a:t>200 clientes y 5 variables originales.</a:t>
            </a:r>
          </a:p>
          <a:p>
            <a:pPr>
              <a:spcAft>
                <a:spcPts val="1200"/>
              </a:spcAft>
              <a:defRPr sz="1600">
                <a:solidFill>
                  <a:srgbClr val="2A333D"/>
                </a:solidFill>
                <a:latin typeface="Aptos"/>
              </a:defRPr>
            </a:pPr>
            <a:r>
              <a:t>Sin valores ausentes ni filas duplicadas reportadas.</a:t>
            </a:r>
          </a:p>
          <a:p>
            <a:pPr>
              <a:spcAft>
                <a:spcPts val="1200"/>
              </a:spcAft>
              <a:defRPr sz="1600">
                <a:solidFill>
                  <a:srgbClr val="2A333D"/>
                </a:solidFill>
                <a:latin typeface="Aptos"/>
              </a:defRPr>
            </a:pPr>
            <a:r>
              <a:t>Variables usadas: ingreso anual y Spending Score.</a:t>
            </a:r>
          </a:p>
          <a:p>
            <a:pPr>
              <a:spcAft>
                <a:spcPts val="1200"/>
              </a:spcAft>
              <a:defRPr sz="1600">
                <a:solidFill>
                  <a:srgbClr val="2A333D"/>
                </a:solidFill>
                <a:latin typeface="Aptos"/>
              </a:defRPr>
            </a:pPr>
            <a:r>
              <a:t>CustomerID se excluye; edad y género se reservan para describir los grupos.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81328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7365D"/>
                </a:solidFill>
                <a:latin typeface="Aptos"/>
              </a:defRPr>
            </a:pPr>
            <a:r>
              <a:t>Flujo de trabajo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1965960"/>
            <a:ext cx="438912" cy="438912"/>
          </a:xfrm>
          <a:prstGeom prst="ellipse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84248"/>
            <a:ext cx="438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956816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7365D"/>
                </a:solidFill>
                <a:latin typeface="Aptos"/>
              </a:defRPr>
            </a:pPr>
            <a:r>
              <a:t>Seleccionar 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25856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F6973"/>
                </a:solidFill>
                <a:latin typeface="Aptos"/>
              </a:defRPr>
            </a:pPr>
            <a:r>
              <a:t>Ingreso + puntuación de gasto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834639"/>
            <a:ext cx="438912" cy="438912"/>
          </a:xfrm>
          <a:prstGeom prst="ellipse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852927"/>
            <a:ext cx="438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825496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7365D"/>
                </a:solidFill>
                <a:latin typeface="Aptos"/>
              </a:defRPr>
            </a:pPr>
            <a:r>
              <a:t>Estandarizar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127247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F6973"/>
                </a:solidFill>
                <a:latin typeface="Aptos"/>
              </a:defRPr>
            </a:pPr>
            <a:r>
              <a:t>Escalas comparables para distancias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3703320"/>
            <a:ext cx="438912" cy="438912"/>
          </a:xfrm>
          <a:prstGeom prst="ellipse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721607"/>
            <a:ext cx="438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694176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7365D"/>
                </a:solidFill>
                <a:latin typeface="Aptos"/>
              </a:defRPr>
            </a:pPr>
            <a:r>
              <a:t>Evaluar 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99592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F6973"/>
                </a:solidFill>
                <a:latin typeface="Aptos"/>
              </a:defRPr>
            </a:pPr>
            <a:r>
              <a:t>Codo + coeficiente de silueta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4572000"/>
            <a:ext cx="438912" cy="438912"/>
          </a:xfrm>
          <a:prstGeom prst="ellipse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590288"/>
            <a:ext cx="438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562856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7365D"/>
                </a:solidFill>
                <a:latin typeface="Aptos"/>
              </a:defRPr>
            </a:pPr>
            <a:r>
              <a:t>Entrenar K-Means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86460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F6973"/>
                </a:solidFill>
                <a:latin typeface="Aptos"/>
              </a:defRPr>
            </a:pPr>
            <a:r>
              <a:t>K = 5; random_state = 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F6973"/>
                </a:solidFill>
                <a:latin typeface="Aptos"/>
              </a:defRPr>
            </a:pPr>
            <a:r>
              <a:t>SEGMENTACIÓN DE CLIENTES · MALL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828C"/>
                </a:solidFill>
                <a:latin typeface="Aptos"/>
              </a:defRPr>
            </a:pPr>
            <a:r>
              <a:t>03 · SELECCIÓN DEL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¿Por qué cinco segmentos?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51560" cy="5029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7365D"/>
                </a:solidFill>
                <a:latin typeface="Aptos"/>
              </a:defRPr>
            </a:pPr>
            <a:r>
              <a:t>Coeficiente de silueta por K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16986"/>
            <a:ext cx="566928" cy="1712214"/>
          </a:xfrm>
          <a:prstGeom prst="rect">
            <a:avLst/>
          </a:prstGeom>
          <a:solidFill>
            <a:srgbClr val="245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2437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A333D"/>
                </a:solidFill>
                <a:latin typeface="Aptos"/>
              </a:defRPr>
            </a:pPr>
            <a:r>
              <a:t>0.321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0235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F697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1368" y="2538221"/>
            <a:ext cx="566928" cy="2490978"/>
          </a:xfrm>
          <a:prstGeom prst="rect">
            <a:avLst/>
          </a:prstGeom>
          <a:solidFill>
            <a:srgbClr val="245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55648" y="2245614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A333D"/>
                </a:solidFill>
                <a:latin typeface="Aptos"/>
              </a:defRPr>
            </a:pPr>
            <a:r>
              <a:t>0.467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510235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F697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8336" y="2394204"/>
            <a:ext cx="566928" cy="2634996"/>
          </a:xfrm>
          <a:prstGeom prst="rect">
            <a:avLst/>
          </a:prstGeom>
          <a:solidFill>
            <a:srgbClr val="245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42616" y="2101596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A333D"/>
                </a:solidFill>
                <a:latin typeface="Aptos"/>
              </a:defRPr>
            </a:pPr>
            <a:r>
              <a:t>0.494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336" y="510235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F697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75304" y="2068829"/>
            <a:ext cx="566928" cy="2960370"/>
          </a:xfrm>
          <a:prstGeom prst="rect">
            <a:avLst/>
          </a:prstGeom>
          <a:solidFill>
            <a:srgbClr val="DE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1776221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A333D"/>
                </a:solidFill>
                <a:latin typeface="Aptos"/>
              </a:defRPr>
            </a:pPr>
            <a:r>
              <a:t>0.555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510235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F697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62272" y="2148839"/>
            <a:ext cx="566928" cy="2880360"/>
          </a:xfrm>
          <a:prstGeom prst="rect">
            <a:avLst/>
          </a:prstGeom>
          <a:solidFill>
            <a:srgbClr val="245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1856231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A333D"/>
                </a:solidFill>
                <a:latin typeface="Aptos"/>
              </a:defRPr>
            </a:pPr>
            <a:r>
              <a:t>0.540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510235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F697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2212847"/>
            <a:ext cx="566928" cy="2816352"/>
          </a:xfrm>
          <a:prstGeom prst="rect">
            <a:avLst/>
          </a:prstGeom>
          <a:solidFill>
            <a:srgbClr val="245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1920239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A333D"/>
                </a:solidFill>
                <a:latin typeface="Aptos"/>
              </a:defRPr>
            </a:pPr>
            <a:r>
              <a:t>0.528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510235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F6973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8" y="2591562"/>
            <a:ext cx="566928" cy="2437638"/>
          </a:xfrm>
          <a:prstGeom prst="rect">
            <a:avLst/>
          </a:prstGeom>
          <a:solidFill>
            <a:srgbClr val="245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0488" y="2298954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A333D"/>
                </a:solidFill>
                <a:latin typeface="Aptos"/>
              </a:defRPr>
            </a:pPr>
            <a:r>
              <a:t>0.457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510235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F697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440680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F6973"/>
                </a:solidFill>
                <a:latin typeface="Aptos"/>
              </a:defRPr>
            </a:pPr>
            <a:r>
              <a:t>Número de grupos (K)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1828800"/>
            <a:ext cx="3108960" cy="3383280"/>
          </a:xfrm>
          <a:prstGeom prst="roundRect">
            <a:avLst/>
          </a:prstGeom>
          <a:solidFill>
            <a:srgbClr val="F2F6FA"/>
          </a:solidFill>
          <a:ln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214884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00828C"/>
                </a:solidFill>
                <a:latin typeface="Aptos"/>
              </a:defRPr>
            </a:pPr>
            <a:r>
              <a:t>K =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69748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7365D"/>
                </a:solidFill>
                <a:latin typeface="Aptos"/>
              </a:defRPr>
            </a:pPr>
            <a:r>
              <a:t>Silueta máxima: 0,555</a:t>
            </a:r>
            <a:br/>
            <a:r>
              <a:t>entre las alternativas evaluadas.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886200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33D"/>
                </a:solidFill>
                <a:latin typeface="Aptos"/>
              </a:defRPr>
            </a:pPr>
            <a:r>
              <a:t>Solución interpretable y manejable para definir acciones por perfil.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989320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973"/>
                </a:solidFill>
                <a:latin typeface="Aptos"/>
              </a:defRPr>
            </a:pPr>
            <a:r>
              <a:t>Nota: el mejor valor de silueta apoya la elección; la utilidad comercial también importa.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F6973"/>
                </a:solidFill>
                <a:latin typeface="Aptos"/>
              </a:defRPr>
            </a:pPr>
            <a:r>
              <a:t>SEGMENTACIÓN DE CLIENTES · MALL CUSTOMERS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828C"/>
                </a:solidFill>
                <a:latin typeface="Aptos"/>
              </a:defRPr>
            </a:pPr>
            <a:r>
              <a:t>04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Los cinco perfiles de clientes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51560" cy="5029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gmentacion_kmeans_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40080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57276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7365D"/>
                </a:solidFill>
                <a:latin typeface="Aptos"/>
              </a:defRPr>
            </a:pPr>
            <a:r>
              <a:t>Lectura ejecutiva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0574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2A333D"/>
                </a:solidFill>
                <a:latin typeface="Aptos"/>
              </a:defRPr>
            </a:pPr>
            <a:r>
              <a:t>Segmento 0: perfil intermedio y mayor volumen.</a:t>
            </a:r>
          </a:p>
          <a:p>
            <a:pPr>
              <a:spcAft>
                <a:spcPts val="1100"/>
              </a:spcAft>
              <a:defRPr sz="1400">
                <a:solidFill>
                  <a:srgbClr val="2A333D"/>
                </a:solidFill>
                <a:latin typeface="Aptos"/>
              </a:defRPr>
            </a:pPr>
            <a:r>
              <a:t>Segmento 1: ingresos altos y gasto alto.</a:t>
            </a:r>
          </a:p>
          <a:p>
            <a:pPr>
              <a:spcAft>
                <a:spcPts val="1100"/>
              </a:spcAft>
              <a:defRPr sz="1400">
                <a:solidFill>
                  <a:srgbClr val="2A333D"/>
                </a:solidFill>
                <a:latin typeface="Aptos"/>
              </a:defRPr>
            </a:pPr>
            <a:r>
              <a:t>Segmento 2: ingresos bajos y gasto alto.</a:t>
            </a:r>
          </a:p>
          <a:p>
            <a:pPr>
              <a:spcAft>
                <a:spcPts val="1100"/>
              </a:spcAft>
              <a:defRPr sz="1400">
                <a:solidFill>
                  <a:srgbClr val="2A333D"/>
                </a:solidFill>
                <a:latin typeface="Aptos"/>
              </a:defRPr>
            </a:pPr>
            <a:r>
              <a:t>Segmento 3: ingresos altos y gasto bajo.</a:t>
            </a:r>
          </a:p>
          <a:p>
            <a:pPr>
              <a:spcAft>
                <a:spcPts val="1100"/>
              </a:spcAft>
              <a:defRPr sz="1400">
                <a:solidFill>
                  <a:srgbClr val="2A333D"/>
                </a:solidFill>
                <a:latin typeface="Aptos"/>
              </a:defRPr>
            </a:pPr>
            <a:r>
              <a:t>Segmento 4: ingresos bajos y gasto bajo.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F6973"/>
                </a:solidFill>
                <a:latin typeface="Aptos"/>
              </a:defRPr>
            </a:pPr>
            <a:r>
              <a:t>Los números de segmento son etiquetas técnicas, no una clasificación de mejor a peor cliente.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F6973"/>
                </a:solidFill>
                <a:latin typeface="Aptos"/>
              </a:defRPr>
            </a:pPr>
            <a:r>
              <a:t>SEGMENTACIÓN DE CLIENTES · MALL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828C"/>
                </a:solidFill>
                <a:latin typeface="Aptos"/>
              </a:defRPr>
            </a:pPr>
            <a:r>
              <a:t>05 · PERFIL CUANTITATIVO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Tamaño y valor descriptivo de cada grupo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51560" cy="5029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37360"/>
          <a:ext cx="83210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77240"/>
                <a:gridCol w="777240"/>
                <a:gridCol w="1645920"/>
                <a:gridCol w="1097280"/>
                <a:gridCol w="219456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Segmento</a:t>
                      </a:r>
                    </a:p>
                  </a:txBody>
                  <a:tcPr marL="73152" marR="54864" marT="45720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Clientes</a:t>
                      </a:r>
                    </a:p>
                  </a:txBody>
                  <a:tcPr marL="73152" marR="54864" marT="45720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%</a:t>
                      </a:r>
                    </a:p>
                  </a:txBody>
                  <a:tcPr marL="73152" marR="54864" marT="45720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Ingreso medio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(miles USD)</a:t>
                      </a:r>
                    </a:p>
                  </a:txBody>
                  <a:tcPr marL="73152" marR="54864" marT="45720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Gasto medio</a:t>
                      </a:r>
                    </a:p>
                  </a:txBody>
                  <a:tcPr marL="73152" marR="54864" marT="45720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Lectura</a:t>
                      </a:r>
                    </a:p>
                  </a:txBody>
                  <a:tcPr marL="73152" marR="54864" marT="45720" marB="36576">
                    <a:solidFill>
                      <a:srgbClr val="17365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0 · Intermedio</a:t>
                      </a:r>
                    </a:p>
                  </a:txBody>
                  <a:tcPr marL="73152" marR="54864" marT="45720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81</a:t>
                      </a:r>
                    </a:p>
                  </a:txBody>
                  <a:tcPr marL="73152" marR="54864" marT="45720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40,5 %</a:t>
                      </a:r>
                    </a:p>
                  </a:txBody>
                  <a:tcPr marL="73152" marR="54864" marT="45720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55,30</a:t>
                      </a:r>
                    </a:p>
                  </a:txBody>
                  <a:tcPr marL="73152" marR="54864" marT="45720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49,52</a:t>
                      </a:r>
                    </a:p>
                  </a:txBody>
                  <a:tcPr marL="73152" marR="54864" marT="45720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Grupo más numeroso</a:t>
                      </a:r>
                    </a:p>
                  </a:txBody>
                  <a:tcPr marL="73152" marR="54864" marT="45720" marB="36576">
                    <a:solidFill>
                      <a:srgbClr val="F2F6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1 · Alto / alto</a:t>
                      </a:r>
                    </a:p>
                  </a:txBody>
                  <a:tcPr marL="73152" marR="54864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39</a:t>
                      </a:r>
                    </a:p>
                  </a:txBody>
                  <a:tcPr marL="73152" marR="54864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19,5 %</a:t>
                      </a:r>
                    </a:p>
                  </a:txBody>
                  <a:tcPr marL="73152" marR="54864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86,54</a:t>
                      </a:r>
                    </a:p>
                  </a:txBody>
                  <a:tcPr marL="73152" marR="54864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82,13</a:t>
                      </a:r>
                    </a:p>
                  </a:txBody>
                  <a:tcPr marL="73152" marR="54864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Fidelizar</a:t>
                      </a:r>
                    </a:p>
                  </a:txBody>
                  <a:tcPr marL="73152" marR="54864" marT="45720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2 · Bajo / alto</a:t>
                      </a:r>
                    </a:p>
                  </a:txBody>
                  <a:tcPr marL="73152" marR="54864" marT="45720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 marL="73152" marR="54864" marT="45720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11,0 %</a:t>
                      </a:r>
                    </a:p>
                  </a:txBody>
                  <a:tcPr marL="73152" marR="54864" marT="45720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25,73</a:t>
                      </a:r>
                    </a:p>
                  </a:txBody>
                  <a:tcPr marL="73152" marR="54864" marT="45720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79,36</a:t>
                      </a:r>
                    </a:p>
                  </a:txBody>
                  <a:tcPr marL="73152" marR="54864" marT="45720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Retener con ofertas</a:t>
                      </a:r>
                    </a:p>
                  </a:txBody>
                  <a:tcPr marL="73152" marR="54864" marT="45720" marB="36576">
                    <a:solidFill>
                      <a:srgbClr val="F2F6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3 · Alto / bajo</a:t>
                      </a:r>
                    </a:p>
                  </a:txBody>
                  <a:tcPr marL="73152" marR="54864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35</a:t>
                      </a:r>
                    </a:p>
                  </a:txBody>
                  <a:tcPr marL="73152" marR="54864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17,5 %</a:t>
                      </a:r>
                    </a:p>
                  </a:txBody>
                  <a:tcPr marL="73152" marR="54864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88,20</a:t>
                      </a:r>
                    </a:p>
                  </a:txBody>
                  <a:tcPr marL="73152" marR="54864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17,11</a:t>
                      </a:r>
                    </a:p>
                  </a:txBody>
                  <a:tcPr marL="73152" marR="54864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Investigar activación</a:t>
                      </a:r>
                    </a:p>
                  </a:txBody>
                  <a:tcPr marL="73152" marR="54864" marT="45720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4 · Bajo / bajo</a:t>
                      </a:r>
                    </a:p>
                  </a:txBody>
                  <a:tcPr marL="73152" marR="54864" marT="45720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23</a:t>
                      </a:r>
                    </a:p>
                  </a:txBody>
                  <a:tcPr marL="73152" marR="54864" marT="45720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11,5 %</a:t>
                      </a:r>
                    </a:p>
                  </a:txBody>
                  <a:tcPr marL="73152" marR="54864" marT="45720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26,30</a:t>
                      </a:r>
                    </a:p>
                  </a:txBody>
                  <a:tcPr marL="73152" marR="54864" marT="45720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20,91</a:t>
                      </a:r>
                    </a:p>
                  </a:txBody>
                  <a:tcPr marL="73152" marR="54864" marT="45720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A333D"/>
                          </a:solidFill>
                          <a:latin typeface="Aptos"/>
                        </a:defRPr>
                      </a:pPr>
                      <a:r>
                        <a:t>Acciones de bajo costo</a:t>
                      </a:r>
                    </a:p>
                  </a:txBody>
                  <a:tcPr marL="73152" marR="54864" marT="45720" marB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07492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F6973"/>
                </a:solidFill>
                <a:latin typeface="Aptos"/>
              </a:defRPr>
            </a:pPr>
            <a:r>
              <a:t>La puntuación de gasto es un indicador asignado en el dataset; no equivale directamente a ventas, margen ni rentabilidad. La edad se utilizó solo para describir los grupos, no para construirlos.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F6973"/>
                </a:solidFill>
                <a:latin typeface="Aptos"/>
              </a:defRPr>
            </a:pPr>
            <a:r>
              <a:t>SEGMENTACIÓN DE CLIENTES · MALL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828C"/>
                </a:solidFill>
                <a:latin typeface="Aptos"/>
              </a:defRPr>
            </a:pPr>
            <a:r>
              <a:t>06 · QUÉ HACER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De segmentos a acciones comerciales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51560" cy="5029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663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" cy="1143000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627631"/>
            <a:ext cx="4709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828C"/>
                </a:solidFill>
                <a:latin typeface="Aptos"/>
              </a:defRPr>
            </a:pPr>
            <a:r>
              <a:t>0 · Intermedio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92807"/>
            <a:ext cx="4709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7365D"/>
                </a:solidFill>
                <a:latin typeface="Aptos"/>
              </a:defRPr>
            </a:pPr>
            <a:r>
              <a:t>Fidelización y venta complementaria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12848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A333D"/>
                </a:solidFill>
                <a:latin typeface="Aptos"/>
              </a:defRPr>
            </a:pPr>
            <a:r>
              <a:t>Programa de puntos; recomendaciones relevantes.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508760"/>
            <a:ext cx="51663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508760"/>
            <a:ext cx="109728" cy="1143000"/>
          </a:xfrm>
          <a:prstGeom prst="rect">
            <a:avLst/>
          </a:prstGeom>
          <a:solidFill>
            <a:srgbClr val="39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627631"/>
            <a:ext cx="4709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97D5B"/>
                </a:solidFill>
                <a:latin typeface="Aptos"/>
              </a:defRPr>
            </a:pPr>
            <a:r>
              <a:t>1 · Alto / alto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892807"/>
            <a:ext cx="4709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7365D"/>
                </a:solidFill>
                <a:latin typeface="Aptos"/>
              </a:defRPr>
            </a:pPr>
            <a:r>
              <a:t>Proteger la relación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212848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A333D"/>
                </a:solidFill>
                <a:latin typeface="Aptos"/>
              </a:defRPr>
            </a:pPr>
            <a:r>
              <a:t>Beneficios exclusivos; experiencias personalizadas.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51663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926080"/>
            <a:ext cx="109728" cy="1143000"/>
          </a:xfrm>
          <a:prstGeom prst="rect">
            <a:avLst/>
          </a:prstGeom>
          <a:solidFill>
            <a:srgbClr val="DE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044952"/>
            <a:ext cx="4709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EA33A"/>
                </a:solidFill>
                <a:latin typeface="Aptos"/>
              </a:defRPr>
            </a:pPr>
            <a:r>
              <a:t>2 · Bajo / alto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310128"/>
            <a:ext cx="4709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7365D"/>
                </a:solidFill>
                <a:latin typeface="Aptos"/>
              </a:defRPr>
            </a:pPr>
            <a:r>
              <a:t>Impulsar recurrencia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630168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A333D"/>
                </a:solidFill>
                <a:latin typeface="Aptos"/>
              </a:defRPr>
            </a:pPr>
            <a:r>
              <a:t>Ofertas relevantes; beneficios por visitas repetidas.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2926080"/>
            <a:ext cx="51663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2926080"/>
            <a:ext cx="109728" cy="1143000"/>
          </a:xfrm>
          <a:prstGeom prst="rect">
            <a:avLst/>
          </a:prstGeom>
          <a:solidFill>
            <a:srgbClr val="B44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044952"/>
            <a:ext cx="4709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44641"/>
                </a:solidFill>
                <a:latin typeface="Aptos"/>
              </a:defRPr>
            </a:pPr>
            <a:r>
              <a:t>3 · Alto / bajo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310128"/>
            <a:ext cx="4709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7365D"/>
                </a:solidFill>
                <a:latin typeface="Aptos"/>
              </a:defRPr>
            </a:pPr>
            <a:r>
              <a:t>Probar activación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630168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A333D"/>
                </a:solidFill>
                <a:latin typeface="Aptos"/>
              </a:defRPr>
            </a:pPr>
            <a:r>
              <a:t>Campañas piloto; investigar barreras y preferencias.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343400"/>
            <a:ext cx="51663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9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343400"/>
            <a:ext cx="109728" cy="1143000"/>
          </a:xfrm>
          <a:prstGeom prst="rect">
            <a:avLst/>
          </a:prstGeom>
          <a:solidFill>
            <a:srgbClr val="245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462272"/>
            <a:ext cx="4709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4527A"/>
                </a:solidFill>
                <a:latin typeface="Aptos"/>
              </a:defRPr>
            </a:pPr>
            <a:r>
              <a:t>4 · Bajo / bajo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4727448"/>
            <a:ext cx="4709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7365D"/>
                </a:solidFill>
                <a:latin typeface="Aptos"/>
              </a:defRPr>
            </a:pPr>
            <a:r>
              <a:t>Optimizar costo comercial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5047488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A333D"/>
                </a:solidFill>
                <a:latin typeface="Aptos"/>
              </a:defRPr>
            </a:pPr>
            <a:r>
              <a:t>Promociones selectivas; comunicaciones económicas.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4360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365D"/>
                </a:solidFill>
                <a:latin typeface="Aptos"/>
              </a:defRPr>
            </a:pPr>
            <a:r>
              <a:t>Prioridad inicial: investigar segmento 3; fidelizar segmento 1; probar mejoras escalables en segmento 0.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F6973"/>
                </a:solidFill>
                <a:latin typeface="Aptos"/>
              </a:defRPr>
            </a:pPr>
            <a:r>
              <a:t>SEGMENTACIÓN DE CLIENTES · MALL CUSTOMERS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828C"/>
                </a:solidFill>
                <a:latin typeface="Aptos"/>
              </a:defRPr>
            </a:pPr>
            <a:r>
              <a:t>07 · MEDIR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Prioridades, métricas y validación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51560" cy="5029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7365D"/>
                </a:solidFill>
                <a:latin typeface="Aptos"/>
              </a:defRPr>
            </a:pPr>
            <a:r>
              <a:t>Prioridades propuestas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A333D"/>
                </a:solidFill>
                <a:latin typeface="Aptos"/>
              </a:defRPr>
            </a:pPr>
            <a:r>
              <a:t>1. Segmento 3: probar campañas de activación y entender barreras.</a:t>
            </a:r>
          </a:p>
          <a:p>
            <a:pPr>
              <a:spcAft>
                <a:spcPts val="1300"/>
              </a:spcAft>
              <a:defRPr sz="1500">
                <a:solidFill>
                  <a:srgbClr val="2A333D"/>
                </a:solidFill>
                <a:latin typeface="Aptos"/>
              </a:defRPr>
            </a:pPr>
            <a:r>
              <a:t>2. Segmento 1: mantener preferencia y retención.</a:t>
            </a:r>
          </a:p>
          <a:p>
            <a:pPr>
              <a:spcAft>
                <a:spcPts val="1300"/>
              </a:spcAft>
              <a:defRPr sz="1500">
                <a:solidFill>
                  <a:srgbClr val="2A333D"/>
                </a:solidFill>
                <a:latin typeface="Aptos"/>
              </a:defRPr>
            </a:pPr>
            <a:r>
              <a:t>3. Segmento 0: probar iniciativas escalables por su tamaño.</a:t>
            </a:r>
          </a:p>
          <a:p>
            <a:pPr>
              <a:spcAft>
                <a:spcPts val="1300"/>
              </a:spcAft>
              <a:defRPr sz="1500">
                <a:solidFill>
                  <a:srgbClr val="2A333D"/>
                </a:solidFill>
                <a:latin typeface="Aptos"/>
              </a:defRPr>
            </a:pPr>
            <a:r>
              <a:t>4. Segmentos 2 y 4: evaluar respuesta y costo antes de escalar.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7365D"/>
                </a:solidFill>
                <a:latin typeface="Aptos"/>
              </a:defRPr>
            </a:pPr>
            <a:r>
              <a:t>KPIs recomendados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480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828C"/>
                </a:solidFill>
                <a:latin typeface="Aptos"/>
              </a:defRPr>
            </a:pPr>
            <a:r>
              <a:t>Conversión incremental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21991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973"/>
                </a:solidFill>
                <a:latin typeface="Aptos"/>
              </a:defRPr>
            </a:pPr>
            <a:r>
              <a:t>Clientes que compran por efecto de la campaña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70632"/>
            <a:ext cx="4480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828C"/>
                </a:solidFill>
                <a:latin typeface="Aptos"/>
              </a:defRPr>
            </a:pPr>
            <a:r>
              <a:t>Retención / recompra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26663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973"/>
                </a:solidFill>
                <a:latin typeface="Aptos"/>
              </a:defRPr>
            </a:pPr>
            <a:r>
              <a:t>Clientes que vuelven dentro del período definido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75304"/>
            <a:ext cx="4480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828C"/>
                </a:solidFill>
                <a:latin typeface="Aptos"/>
              </a:defRPr>
            </a:pPr>
            <a:r>
              <a:t>Gasto real y margen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31336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973"/>
                </a:solidFill>
                <a:latin typeface="Aptos"/>
              </a:defRPr>
            </a:pPr>
            <a:r>
              <a:t>Valor de compra y rentabilidad observada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79976"/>
            <a:ext cx="4480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828C"/>
                </a:solidFill>
                <a:latin typeface="Aptos"/>
              </a:defRPr>
            </a:pPr>
            <a:r>
              <a:t>Costo por activación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63600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973"/>
                </a:solidFill>
                <a:latin typeface="Aptos"/>
              </a:defRPr>
            </a:pPr>
            <a:r>
              <a:t>Costo de campaña por cliente reactivado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150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365D"/>
                </a:solidFill>
                <a:latin typeface="Aptos"/>
              </a:defRPr>
            </a:pPr>
            <a:r>
              <a:t>Recomendación: ejecutar pilotos con grupo de control cuando sea posible y escalar solo si el margen incremental es positivo.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F6973"/>
                </a:solidFill>
                <a:latin typeface="Aptos"/>
              </a:defRPr>
            </a:pPr>
            <a:r>
              <a:t>SEGMENTACIÓN DE CLIENTES · MALL 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828C"/>
                </a:solidFill>
                <a:latin typeface="Aptos"/>
              </a:defRPr>
            </a:pPr>
            <a:r>
              <a:t>08 · USO RESPONSABLE DE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Riesgos y limitaciones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51560" cy="50292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A333D"/>
                </a:solidFill>
                <a:latin typeface="Aptos"/>
              </a:defRPr>
            </a:pPr>
            <a:r>
              <a:t>Muestra de 200 clientes: los resultados no necesariamente se generalizan a otras tiendas o períodos.</a:t>
            </a:r>
          </a:p>
          <a:p>
            <a:pPr>
              <a:spcAft>
                <a:spcPts val="1400"/>
              </a:spcAft>
              <a:defRPr sz="1700">
                <a:solidFill>
                  <a:srgbClr val="2A333D"/>
                </a:solidFill>
                <a:latin typeface="Aptos"/>
              </a:defRPr>
            </a:pPr>
            <a:r>
              <a:t>Spending Score no es una medida directa de ventas, frecuencia de compra o rentabilidad.</a:t>
            </a:r>
          </a:p>
          <a:p>
            <a:pPr>
              <a:spcAft>
                <a:spcPts val="1400"/>
              </a:spcAft>
              <a:defRPr sz="1700">
                <a:solidFill>
                  <a:srgbClr val="2A333D"/>
                </a:solidFill>
                <a:latin typeface="Aptos"/>
              </a:defRPr>
            </a:pPr>
            <a:r>
              <a:t>No hay historial transaccional ni costos comerciales para confirmar las hipótesis de negocio.</a:t>
            </a:r>
          </a:p>
          <a:p>
            <a:pPr>
              <a:spcAft>
                <a:spcPts val="1400"/>
              </a:spcAft>
              <a:defRPr sz="1700">
                <a:solidFill>
                  <a:srgbClr val="2A333D"/>
                </a:solidFill>
                <a:latin typeface="Aptos"/>
              </a:defRPr>
            </a:pPr>
            <a:r>
              <a:t>K-Means es sensible a escala, valores extremos y elección de K.</a:t>
            </a:r>
          </a:p>
          <a:p>
            <a:pPr>
              <a:spcAft>
                <a:spcPts val="1400"/>
              </a:spcAft>
              <a:defRPr sz="1700">
                <a:solidFill>
                  <a:srgbClr val="2A333D"/>
                </a:solidFill>
                <a:latin typeface="Aptos"/>
              </a:defRPr>
            </a:pPr>
            <a:r>
              <a:t>Los perfiles deben validarse con datos reales y pruebas comerciales antes de asignar presupuestos.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257800"/>
            <a:ext cx="10424160" cy="658368"/>
          </a:xfrm>
          <a:prstGeom prst="roundRect">
            <a:avLst/>
          </a:prstGeom>
          <a:solidFill>
            <a:srgbClr val="FFF6E2"/>
          </a:solidFill>
          <a:ln>
            <a:solidFill>
              <a:srgbClr val="DEA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422392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7365D"/>
                </a:solidFill>
                <a:latin typeface="Aptos"/>
              </a:defRPr>
            </a:pPr>
            <a:r>
              <a:t>La segmentación orienta hipótesis de acción; no demuestra causalidad ni rentabilidad.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37960"/>
            <a:ext cx="9144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F6973"/>
                </a:solidFill>
                <a:latin typeface="Aptos"/>
              </a:defRPr>
            </a:pPr>
            <a:r>
              <a:t>SEGMENTACIÓN DE CLIENTES · MALL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5ADCD7"/>
                </a:solidFill>
                <a:latin typeface="Aptos"/>
              </a:defRPr>
            </a:pPr>
            <a:r>
              <a:t>CONCLUSIÓN EJECUTIVA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Segmentar permite pasar de una oferta única a acciones diferenciadas.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9875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E2EBF2"/>
                </a:solidFill>
                <a:latin typeface="Aptos"/>
              </a:defRPr>
            </a:pPr>
            <a:r>
              <a:t>K-Means identificó cinco perfiles a partir de ingreso anual y puntuación de gasto. La oportunidad más clara para probar es investigar clientes de ingreso alto y puntuación baja, mientras se protege la relación con clientes de ingreso y gasto altos.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251960"/>
            <a:ext cx="3246120" cy="1097280"/>
          </a:xfrm>
          <a:prstGeom prst="roundRect">
            <a:avLst/>
          </a:prstGeom>
          <a:solidFill>
            <a:srgbClr val="24527A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46227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ADCD7"/>
                </a:solidFill>
                <a:latin typeface="Aptos"/>
              </a:defRPr>
            </a:pPr>
            <a:r>
              <a:t>IDENTIFICAR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00600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5 perfiles diferenciados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4251960"/>
            <a:ext cx="3246120" cy="1097280"/>
          </a:xfrm>
          <a:prstGeom prst="roundRect">
            <a:avLst/>
          </a:prstGeom>
          <a:solidFill>
            <a:srgbClr val="24527A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446227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ADCD7"/>
                </a:solidFill>
                <a:latin typeface="Aptos"/>
              </a:defRPr>
            </a:pPr>
            <a:r>
              <a:t>ACTUAR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800600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Campañas por segmento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4251960"/>
            <a:ext cx="3246120" cy="1097280"/>
          </a:xfrm>
          <a:prstGeom prst="roundRect">
            <a:avLst/>
          </a:prstGeom>
          <a:solidFill>
            <a:srgbClr val="24527A"/>
          </a:solidFill>
          <a:ln>
            <a:solidFill>
              <a:srgbClr val="00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446227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ADCD7"/>
                </a:solidFill>
                <a:latin typeface="Aptos"/>
              </a:defRPr>
            </a:pPr>
            <a:r>
              <a:t>MEDIR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4800600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Conversión, retención y margen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6364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CE6EE"/>
                </a:solidFill>
                <a:latin typeface="Aptos"/>
              </a:defRPr>
            </a:pPr>
            <a:r>
              <a:t>Próximo paso: validar las hipótesis con transacciones reales y experimentos comerciales.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