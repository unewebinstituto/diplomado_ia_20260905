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225ae2c3-8070-4048-9b2c-2f887a4aabc0.fntdata" /><ns0:Relationship Id="rIdFont14" Type="http://schemas.openxmlformats.org/officeDocument/2006/relationships/font" Target="fonts/c0949502-07b1-427e-ad89-07047f380b0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888110"/>
            <a:ext cx="762000" cy="5715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12739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C220"/>
                </a:solidFill>
                <a:latin typeface="Inter"/>
              </a:rPr>
              <a:t>ANÁLISIS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1364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Proyección de Ventas: Próximos 3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54685"/>
            <a:ext cx="8334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A0B2C6"/>
                </a:solidFill>
                <a:latin typeface="Inter"/>
              </a:rPr>
              <a:t>Modelado de escenarios para Noviembre 2012 - Enero 2013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71CE"/>
                </a:solidFill>
                <a:latin typeface="Inter"/>
              </a:rPr>
              <a:t>EL PICO ESTACIONAL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9031" y="2771775"/>
            <a:ext cx="4833937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1A1A1A"/>
                </a:solidFill>
                <a:latin typeface="Inter"/>
              </a:rPr>
              <a:t>$58M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8140" y="4333875"/>
            <a:ext cx="765571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555555"/>
                </a:solidFill>
                <a:latin typeface="Inter"/>
              </a:rPr>
              <a:t>Ventas semanales esperadas durante Diciembre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89039"/>
            <a:ext cx="3352800" cy="2356246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789039"/>
            <a:ext cx="3352800" cy="2356246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89039"/>
            <a:ext cx="3352800" cy="2356246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246239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246239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246239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1A1A"/>
                </a:solidFill>
                <a:latin typeface="Inter"/>
              </a:rPr>
              <a:t>Dinámica del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779639"/>
            <a:ext cx="3200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1A1A"/>
                </a:solidFill>
                <a:latin typeface="Inter"/>
              </a:rPr>
              <a:t>Tendencia Positiva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208264"/>
            <a:ext cx="25336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55555"/>
                </a:solidFill>
                <a:latin typeface="Inter"/>
              </a:rPr>
              <a:t>Crecimiento base constante interanual.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3779639"/>
            <a:ext cx="3200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1A1A"/>
                </a:solidFill>
                <a:latin typeface="Inter"/>
              </a:rPr>
              <a:t>Impacto Navideño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4208264"/>
            <a:ext cx="25336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55555"/>
                </a:solidFill>
                <a:latin typeface="Inter"/>
              </a:rPr>
              <a:t>22% sobre el promedio global en Diciembre.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3779639"/>
            <a:ext cx="3200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1A1A"/>
                </a:solidFill>
                <a:latin typeface="Inter"/>
              </a:rPr>
              <a:t>Caída de Enero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208264"/>
            <a:ext cx="25336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55555"/>
                </a:solidFill>
                <a:latin typeface="Inter"/>
              </a:rPr>
              <a:t>Contracción del 12% post-fiestas.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838325"/>
            <a:ext cx="3302049" cy="425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5049" y="1838325"/>
            <a:ext cx="3302049" cy="425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1838325"/>
            <a:ext cx="3302049" cy="425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838325"/>
            <a:ext cx="3302049" cy="38100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45049" y="1838325"/>
            <a:ext cx="3302049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838325"/>
            <a:ext cx="3302049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90812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43237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49" y="2690812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49" y="3043237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690812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3243262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1A1A"/>
                </a:solidFill>
                <a:latin typeface="Inter"/>
              </a:rPr>
              <a:t>Tres Escenarios Proyectados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181225"/>
            <a:ext cx="433394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62728"/>
                </a:solidFill>
                <a:latin typeface="Inter"/>
              </a:rPr>
              <a:t>Pesimista (-8%)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49" y="2181225"/>
            <a:ext cx="433394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Esperado (Base)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99" y="2181225"/>
            <a:ext cx="40639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CA02C"/>
                </a:solidFill>
                <a:latin typeface="Inter"/>
              </a:rPr>
              <a:t>Optimista (+8%)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657475"/>
            <a:ext cx="3889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Presión inflacionaria sostenida.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3009900"/>
            <a:ext cx="31591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Menor poder adquisitivo del consumidor.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2657475"/>
            <a:ext cx="3898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Tendencia lineal histórica.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649" y="300990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Ajustes estacionales mensuales estándar.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224" y="2657475"/>
            <a:ext cx="31591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Condiciones macroeconómicas favorables.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224" y="3209925"/>
            <a:ext cx="31591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Inter"/>
              </a:rPr>
              <a:t>Alta conversión en campañas festivas.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85875"/>
            <a:ext cx="10972800" cy="5753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4475"/>
            <a:ext cx="10515600" cy="529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381000" y="609600"/>
            <a:ext cx="12954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A1A1A"/>
                </a:solidFill>
                <a:latin typeface="Inter"/>
              </a:rPr>
              <a:t>Visualización del Modelo Predictivo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95537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4208" y="3309937"/>
            <a:ext cx="8663582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Inter"/>
              </a:rPr>
              <a:t>Planificación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3718" y="4186237"/>
            <a:ext cx="6024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0B2C6"/>
                </a:solidFill>
                <a:latin typeface="Inter"/>
              </a:rPr>
              <a:t>Preparados para ejecutar el Q4.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